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 pasted URL is resolved to a transcript (captions, or yt-dlp/Whisper fallback), then chunked, embedded, and indexed once. Every question then goes through hybrid retrieval against that index, and Groq generates the final answer cited by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Vector search alone fails on broad 'summarize this' questions because there's no single matching passage. It also struggles with years and exact quoted phrases, since embeddings capture meaning, not exact digits or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3D62"/>
          </a:solidFill>
          <a:ln/>
        </p:spPr>
      </p:sp>
      <p:pic>
        <p:nvPicPr>
          <p:cNvPr id="3" name="Image 0" descr="/home/claude/chat-with-youtube/presentation/icons_chat.png">    </p:cNvPr>
          <p:cNvPicPr>
            <a:picLocks noChangeAspect="1"/>
          </p:cNvPicPr>
          <p:nvPr/>
        </p:nvPicPr>
        <p:blipFill>
          <a:blip r:embed="rId1">
            <a:alphaModFix amt="85000"/>
          </a:blip>
          <a:stretch>
            <a:fillRect/>
          </a:stretch>
        </p:blipFill>
        <p:spPr>
          <a:xfrm>
            <a:off x="10085832" y="548640"/>
            <a:ext cx="1188720" cy="1188720"/>
          </a:xfrm>
          <a:prstGeom prst="rect">
            <a:avLst/>
          </a:prstGeom>
        </p:spPr>
      </p:pic>
      <p:sp>
        <p:nvSpPr>
          <p:cNvPr id="4" name="Text 1"/>
          <p:cNvSpPr/>
          <p:nvPr/>
        </p:nvSpPr>
        <p:spPr>
          <a:xfrm>
            <a:off x="822960" y="2286000"/>
            <a:ext cx="10543032"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Chat With YouTube</a:t>
            </a:r>
            <a:endParaRPr lang="en-US" sz="4400" dirty="0"/>
          </a:p>
        </p:txBody>
      </p:sp>
      <p:sp>
        <p:nvSpPr>
          <p:cNvPr id="5" name="Text 2"/>
          <p:cNvSpPr/>
          <p:nvPr/>
        </p:nvSpPr>
        <p:spPr>
          <a:xfrm>
            <a:off x="822960" y="3246120"/>
            <a:ext cx="10543032"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 Retrieval-Augmented Generation System for Video Transcripts</a:t>
            </a:r>
            <a:endParaRPr lang="en-US" sz="2000" dirty="0"/>
          </a:p>
        </p:txBody>
      </p:sp>
      <p:sp>
        <p:nvSpPr>
          <p:cNvPr id="6" name="Text 3"/>
          <p:cNvSpPr/>
          <p:nvPr/>
        </p:nvSpPr>
        <p:spPr>
          <a:xfrm>
            <a:off x="822960" y="3886200"/>
            <a:ext cx="5486400" cy="365760"/>
          </a:xfrm>
          <a:prstGeom prst="rect">
            <a:avLst/>
          </a:prstGeom>
          <a:noFill/>
          <a:ln/>
        </p:spPr>
        <p:txBody>
          <a:bodyPr wrap="square" lIns="0" tIns="0" rIns="0" bIns="0" rtlCol="0" anchor="ctr"/>
          <a:lstStyle/>
          <a:p>
            <a:pPr indent="0" marL="0">
              <a:buNone/>
            </a:pPr>
            <a:r>
              <a:rPr lang="en-US" sz="1400" i="1" dirty="0">
                <a:solidFill>
                  <a:srgbClr val="8FA8C2"/>
                </a:solidFill>
                <a:latin typeface="Calibri" pitchFamily="34" charset="0"/>
                <a:ea typeface="Calibri" pitchFamily="34" charset="-122"/>
                <a:cs typeface="Calibri" pitchFamily="34" charset="-120"/>
              </a:rPr>
              <a:t>[Mini Project]</a:t>
            </a:r>
            <a:endParaRPr lang="en-US" sz="1400" dirty="0"/>
          </a:p>
        </p:txBody>
      </p:sp>
      <p:sp>
        <p:nvSpPr>
          <p:cNvPr id="7" name="Text 4"/>
          <p:cNvSpPr/>
          <p:nvPr/>
        </p:nvSpPr>
        <p:spPr>
          <a:xfrm>
            <a:off x="822960" y="5943600"/>
            <a:ext cx="731520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[Student Name]</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[College Name]  |  [2025-2026]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problem</a:t>
            </a:r>
            <a:endParaRPr lang="en-US" sz="3000" dirty="0"/>
          </a:p>
        </p:txBody>
      </p:sp>
      <p:sp>
        <p:nvSpPr>
          <p:cNvPr id="3" name="Text 1"/>
          <p:cNvSpPr/>
          <p:nvPr/>
        </p:nvSpPr>
        <p:spPr>
          <a:xfrm>
            <a:off x="548640" y="1463040"/>
            <a:ext cx="6400800" cy="4114800"/>
          </a:xfrm>
          <a:prstGeom prst="rect">
            <a:avLst/>
          </a:prstGeom>
          <a:noFill/>
          <a:ln/>
        </p:spPr>
        <p:txBody>
          <a:bodyPr wrap="square" lIns="0" tIns="0" rIns="0" bIns="0" rtlCol="0" anchor="t"/>
          <a:lstStyle/>
          <a:p>
            <a:pPr indent="0" marL="0">
              <a:lnSpc>
                <a:spcPct val="115000"/>
              </a:lnSpc>
              <a:spcAft>
                <a:spcPts val="1000"/>
              </a:spcAft>
              <a:buNone/>
            </a:pPr>
            <a:r>
              <a:rPr lang="en-US" sz="1600" b="1" dirty="0">
                <a:solidFill>
                  <a:srgbClr val="1A1A1A"/>
                </a:solidFill>
                <a:latin typeface="Calibri" pitchFamily="34" charset="0"/>
                <a:ea typeface="Calibri" pitchFamily="34" charset="-122"/>
                <a:cs typeface="Calibri" pitchFamily="34" charset="-120"/>
              </a:rPr>
              <a:t>Long videos hide the exact moment you actually need</a:t>
            </a:r>
            <a:endParaRPr lang="en-US" sz="1600" dirty="0"/>
          </a:p>
          <a:p>
            <a:pPr marL="342900" indent="-342900">
              <a:lnSpc>
                <a:spcPct val="115000"/>
              </a:lnSpc>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YouTube's search only matches the title and description, not what's actually said inside</a:t>
            </a:r>
            <a:endParaRPr lang="en-US" sz="1600" dirty="0"/>
          </a:p>
          <a:p>
            <a:pPr marL="342900" indent="-342900">
              <a:lnSpc>
                <a:spcPct val="115000"/>
              </a:lnSpc>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Finding one fact in a two-hour lecture means scrubbing through it manually</a:t>
            </a:r>
            <a:endParaRPr lang="en-US" sz="1600" dirty="0"/>
          </a:p>
          <a:p>
            <a:pPr marL="342900" indent="-342900">
              <a:lnSpc>
                <a:spcPct val="115000"/>
              </a:lnSpc>
              <a:buSzPct val="100000"/>
              <a:buChar char="•"/>
            </a:pPr>
            <a:r>
              <a:rPr lang="en-US" sz="1600" dirty="0">
                <a:solidFill>
                  <a:srgbClr val="1A1A1A"/>
                </a:solidFill>
                <a:latin typeface="Calibri" pitchFamily="34" charset="0"/>
                <a:ea typeface="Calibri" pitchFamily="34" charset="-122"/>
                <a:cs typeface="Calibri" pitchFamily="34" charset="-120"/>
              </a:rPr>
              <a:t>Asking an LLM directly about a video it's never seen risks a hallucinated, plausible-sounding but wrong answer</a:t>
            </a:r>
            <a:endParaRPr lang="en-US" sz="1600" dirty="0"/>
          </a:p>
        </p:txBody>
      </p:sp>
      <p:sp>
        <p:nvSpPr>
          <p:cNvPr id="4" name="Shape 2"/>
          <p:cNvSpPr/>
          <p:nvPr/>
        </p:nvSpPr>
        <p:spPr>
          <a:xfrm>
            <a:off x="7406640" y="1737360"/>
            <a:ext cx="4206240" cy="3291840"/>
          </a:xfrm>
          <a:prstGeom prst="roundRect">
            <a:avLst>
              <a:gd name="adj" fmla="val 3333"/>
            </a:avLst>
          </a:prstGeom>
          <a:solidFill>
            <a:srgbClr val="F5F6F7"/>
          </a:solidFill>
          <a:ln w="12700">
            <a:solidFill>
              <a:srgbClr val="E2E4E8"/>
            </a:solidFill>
            <a:prstDash val="solid"/>
          </a:ln>
        </p:spPr>
      </p:sp>
      <p:sp>
        <p:nvSpPr>
          <p:cNvPr id="5" name="Shape 3"/>
          <p:cNvSpPr/>
          <p:nvPr/>
        </p:nvSpPr>
        <p:spPr>
          <a:xfrm>
            <a:off x="7772400" y="2057400"/>
            <a:ext cx="731520" cy="731520"/>
          </a:xfrm>
          <a:prstGeom prst="ellipse">
            <a:avLst/>
          </a:prstGeom>
          <a:solidFill>
            <a:srgbClr val="534AB7"/>
          </a:solidFill>
          <a:ln/>
        </p:spPr>
      </p:sp>
      <p:pic>
        <p:nvPicPr>
          <p:cNvPr id="6" name="Image 0" descr="/home/claude/chat-with-youtube/presentation/icons_warning.png">    </p:cNvPr>
          <p:cNvPicPr>
            <a:picLocks noChangeAspect="1"/>
          </p:cNvPicPr>
          <p:nvPr/>
        </p:nvPicPr>
        <p:blipFill>
          <a:blip r:embed="rId1"/>
          <a:stretch>
            <a:fillRect/>
          </a:stretch>
        </p:blipFill>
        <p:spPr>
          <a:xfrm>
            <a:off x="7845552" y="2130552"/>
            <a:ext cx="585216" cy="585216"/>
          </a:xfrm>
          <a:prstGeom prst="rect">
            <a:avLst/>
          </a:prstGeom>
        </p:spPr>
      </p:pic>
      <p:sp>
        <p:nvSpPr>
          <p:cNvPr id="7" name="Text 4"/>
          <p:cNvSpPr/>
          <p:nvPr/>
        </p:nvSpPr>
        <p:spPr>
          <a:xfrm>
            <a:off x="7680960" y="2971800"/>
            <a:ext cx="3566160" cy="1737360"/>
          </a:xfrm>
          <a:prstGeom prst="rect">
            <a:avLst/>
          </a:prstGeom>
          <a:noFill/>
          <a:ln/>
        </p:spPr>
        <p:txBody>
          <a:bodyPr wrap="square" lIns="0" tIns="0" rIns="0" bIns="0" rtlCol="0" anchor="ctr"/>
          <a:lstStyle/>
          <a:p>
            <a:pPr algn="l" indent="0" marL="0">
              <a:buNone/>
            </a:pPr>
            <a:r>
              <a:rPr lang="en-US" sz="1600" i="1" dirty="0">
                <a:solidFill>
                  <a:srgbClr val="0B3D62"/>
                </a:solidFill>
                <a:latin typeface="Cambria" pitchFamily="34" charset="0"/>
                <a:ea typeface="Cambria" pitchFamily="34" charset="-122"/>
                <a:cs typeface="Cambria" pitchFamily="34" charset="-120"/>
              </a:rPr>
              <a:t>“What did they say about the 2017 result, again?”</a:t>
            </a:r>
            <a:endParaRPr lang="en-US" sz="1600" dirty="0"/>
          </a:p>
        </p:txBody>
      </p:sp>
      <p:sp>
        <p:nvSpPr>
          <p:cNvPr id="8" name="Text 5"/>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Objectives</a:t>
            </a:r>
            <a:endParaRPr lang="en-US" sz="3000" dirty="0"/>
          </a:p>
        </p:txBody>
      </p:sp>
      <p:sp>
        <p:nvSpPr>
          <p:cNvPr id="3" name="Shape 1"/>
          <p:cNvSpPr/>
          <p:nvPr/>
        </p:nvSpPr>
        <p:spPr>
          <a:xfrm>
            <a:off x="548640" y="1645920"/>
            <a:ext cx="685800" cy="685800"/>
          </a:xfrm>
          <a:prstGeom prst="ellipse">
            <a:avLst/>
          </a:prstGeom>
          <a:solidFill>
            <a:srgbClr val="0B3D62"/>
          </a:solidFill>
          <a:ln/>
        </p:spPr>
      </p:sp>
      <p:pic>
        <p:nvPicPr>
          <p:cNvPr id="4" name="Image 0" descr="/home/claude/chat-with-youtube/presentation/icons_upload.png">    </p:cNvPr>
          <p:cNvPicPr>
            <a:picLocks noChangeAspect="1"/>
          </p:cNvPicPr>
          <p:nvPr/>
        </p:nvPicPr>
        <p:blipFill>
          <a:blip r:embed="rId1"/>
          <a:stretch>
            <a:fillRect/>
          </a:stretch>
        </p:blipFill>
        <p:spPr>
          <a:xfrm>
            <a:off x="617220" y="1714500"/>
            <a:ext cx="548640" cy="548640"/>
          </a:xfrm>
          <a:prstGeom prst="rect">
            <a:avLst/>
          </a:prstGeom>
        </p:spPr>
      </p:pic>
      <p:sp>
        <p:nvSpPr>
          <p:cNvPr id="5" name="Text 2"/>
          <p:cNvSpPr/>
          <p:nvPr/>
        </p:nvSpPr>
        <p:spPr>
          <a:xfrm>
            <a:off x="1463040" y="155448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Turn any video into a knowledge base</a:t>
            </a:r>
            <a:endParaRPr lang="en-US" sz="1600" dirty="0"/>
          </a:p>
        </p:txBody>
      </p:sp>
      <p:sp>
        <p:nvSpPr>
          <p:cNvPr id="6" name="Text 3"/>
          <p:cNvSpPr/>
          <p:nvPr/>
        </p:nvSpPr>
        <p:spPr>
          <a:xfrm>
            <a:off x="1463040" y="196596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Paste a YouTube link and get an indexed, queryable transcript</a:t>
            </a:r>
            <a:endParaRPr lang="en-US" sz="1300" dirty="0"/>
          </a:p>
        </p:txBody>
      </p:sp>
      <p:sp>
        <p:nvSpPr>
          <p:cNvPr id="7" name="Shape 4"/>
          <p:cNvSpPr/>
          <p:nvPr/>
        </p:nvSpPr>
        <p:spPr>
          <a:xfrm>
            <a:off x="6400800" y="1645920"/>
            <a:ext cx="685800" cy="685800"/>
          </a:xfrm>
          <a:prstGeom prst="ellipse">
            <a:avLst/>
          </a:prstGeom>
          <a:solidFill>
            <a:srgbClr val="0B3D62"/>
          </a:solidFill>
          <a:ln/>
        </p:spPr>
      </p:sp>
      <p:pic>
        <p:nvPicPr>
          <p:cNvPr id="8" name="Image 1" descr="/home/claude/chat-with-youtube/presentation/icons_search.png">    </p:cNvPr>
          <p:cNvPicPr>
            <a:picLocks noChangeAspect="1"/>
          </p:cNvPicPr>
          <p:nvPr/>
        </p:nvPicPr>
        <p:blipFill>
          <a:blip r:embed="rId2"/>
          <a:stretch>
            <a:fillRect/>
          </a:stretch>
        </p:blipFill>
        <p:spPr>
          <a:xfrm>
            <a:off x="6469380" y="1714500"/>
            <a:ext cx="548640" cy="548640"/>
          </a:xfrm>
          <a:prstGeom prst="rect">
            <a:avLst/>
          </a:prstGeom>
        </p:spPr>
      </p:pic>
      <p:sp>
        <p:nvSpPr>
          <p:cNvPr id="9" name="Text 5"/>
          <p:cNvSpPr/>
          <p:nvPr/>
        </p:nvSpPr>
        <p:spPr>
          <a:xfrm>
            <a:off x="7315200" y="155448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Retrieve relevant moments accurately</a:t>
            </a:r>
            <a:endParaRPr lang="en-US" sz="1600" dirty="0"/>
          </a:p>
        </p:txBody>
      </p:sp>
      <p:sp>
        <p:nvSpPr>
          <p:cNvPr id="10" name="Text 6"/>
          <p:cNvSpPr/>
          <p:nvPr/>
        </p:nvSpPr>
        <p:spPr>
          <a:xfrm>
            <a:off x="7315200" y="196596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Combine semantic and exact-match search for precision</a:t>
            </a:r>
            <a:endParaRPr lang="en-US" sz="1300" dirty="0"/>
          </a:p>
        </p:txBody>
      </p:sp>
      <p:sp>
        <p:nvSpPr>
          <p:cNvPr id="11" name="Shape 7"/>
          <p:cNvSpPr/>
          <p:nvPr/>
        </p:nvSpPr>
        <p:spPr>
          <a:xfrm>
            <a:off x="548640" y="3337560"/>
            <a:ext cx="685800" cy="685800"/>
          </a:xfrm>
          <a:prstGeom prst="ellipse">
            <a:avLst/>
          </a:prstGeom>
          <a:solidFill>
            <a:srgbClr val="0B3D62"/>
          </a:solidFill>
          <a:ln/>
        </p:spPr>
      </p:sp>
      <p:pic>
        <p:nvPicPr>
          <p:cNvPr id="12" name="Image 2" descr="/home/claude/chat-with-youtube/presentation/icons_robot.png">    </p:cNvPr>
          <p:cNvPicPr>
            <a:picLocks noChangeAspect="1"/>
          </p:cNvPicPr>
          <p:nvPr/>
        </p:nvPicPr>
        <p:blipFill>
          <a:blip r:embed="rId3"/>
          <a:stretch>
            <a:fillRect/>
          </a:stretch>
        </p:blipFill>
        <p:spPr>
          <a:xfrm>
            <a:off x="617220" y="3406140"/>
            <a:ext cx="548640" cy="548640"/>
          </a:xfrm>
          <a:prstGeom prst="rect">
            <a:avLst/>
          </a:prstGeom>
        </p:spPr>
      </p:pic>
      <p:sp>
        <p:nvSpPr>
          <p:cNvPr id="13" name="Text 8"/>
          <p:cNvSpPr/>
          <p:nvPr/>
        </p:nvSpPr>
        <p:spPr>
          <a:xfrm>
            <a:off x="1463040" y="324612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Generate grounded answers</a:t>
            </a:r>
            <a:endParaRPr lang="en-US" sz="1600" dirty="0"/>
          </a:p>
        </p:txBody>
      </p:sp>
      <p:sp>
        <p:nvSpPr>
          <p:cNvPr id="14" name="Text 9"/>
          <p:cNvSpPr/>
          <p:nvPr/>
        </p:nvSpPr>
        <p:spPr>
          <a:xfrm>
            <a:off x="1463040" y="365760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Use an LLM to answer strictly from the retrieved transcript</a:t>
            </a:r>
            <a:endParaRPr lang="en-US" sz="1300" dirty="0"/>
          </a:p>
        </p:txBody>
      </p:sp>
      <p:sp>
        <p:nvSpPr>
          <p:cNvPr id="15" name="Shape 10"/>
          <p:cNvSpPr/>
          <p:nvPr/>
        </p:nvSpPr>
        <p:spPr>
          <a:xfrm>
            <a:off x="6400800" y="3337560"/>
            <a:ext cx="685800" cy="685800"/>
          </a:xfrm>
          <a:prstGeom prst="ellipse">
            <a:avLst/>
          </a:prstGeom>
          <a:solidFill>
            <a:srgbClr val="0B3D62"/>
          </a:solidFill>
          <a:ln/>
        </p:spPr>
      </p:sp>
      <p:pic>
        <p:nvPicPr>
          <p:cNvPr id="16" name="Image 3" descr="/home/claude/chat-with-youtube/presentation/icons_check.png">    </p:cNvPr>
          <p:cNvPicPr>
            <a:picLocks noChangeAspect="1"/>
          </p:cNvPicPr>
          <p:nvPr/>
        </p:nvPicPr>
        <p:blipFill>
          <a:blip r:embed="rId4"/>
          <a:stretch>
            <a:fillRect/>
          </a:stretch>
        </p:blipFill>
        <p:spPr>
          <a:xfrm>
            <a:off x="6469380" y="3406140"/>
            <a:ext cx="548640" cy="548640"/>
          </a:xfrm>
          <a:prstGeom prst="rect">
            <a:avLst/>
          </a:prstGeom>
        </p:spPr>
      </p:pic>
      <p:sp>
        <p:nvSpPr>
          <p:cNvPr id="17" name="Text 11"/>
          <p:cNvSpPr/>
          <p:nvPr/>
        </p:nvSpPr>
        <p:spPr>
          <a:xfrm>
            <a:off x="7315200" y="324612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Cite and jump to every answer</a:t>
            </a:r>
            <a:endParaRPr lang="en-US" sz="1600" dirty="0"/>
          </a:p>
        </p:txBody>
      </p:sp>
      <p:sp>
        <p:nvSpPr>
          <p:cNvPr id="18" name="Text 12"/>
          <p:cNvSpPr/>
          <p:nvPr/>
        </p:nvSpPr>
        <p:spPr>
          <a:xfrm>
            <a:off x="7315200" y="365760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Show the exact timestamp, and seek the player there on click</a:t>
            </a:r>
            <a:endParaRPr lang="en-US" sz="1300" dirty="0"/>
          </a:p>
        </p:txBody>
      </p:sp>
      <p:sp>
        <p:nvSpPr>
          <p:cNvPr id="19" name="Text 13"/>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System architecture</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Two phases: build the index once, then answer questions against it</a:t>
            </a:r>
            <a:endParaRPr lang="en-US" sz="1400" dirty="0"/>
          </a:p>
        </p:txBody>
      </p:sp>
      <p:pic>
        <p:nvPicPr>
          <p:cNvPr id="4" name="Image 0" descr="/home/claude/chat-with-youtube/presentation/architecture_diagram.png">    </p:cNvPr>
          <p:cNvPicPr>
            <a:picLocks noChangeAspect="1"/>
          </p:cNvPicPr>
          <p:nvPr/>
        </p:nvPicPr>
        <p:blipFill>
          <a:blip r:embed="rId1"/>
          <a:stretch>
            <a:fillRect/>
          </a:stretch>
        </p:blipFill>
        <p:spPr>
          <a:xfrm>
            <a:off x="2724912" y="1737360"/>
            <a:ext cx="6739128" cy="2971800"/>
          </a:xfrm>
          <a:prstGeom prst="rect">
            <a:avLst/>
          </a:prstGeom>
        </p:spPr>
      </p:pic>
      <p:sp>
        <p:nvSpPr>
          <p:cNvPr id="5" name="Shape 2"/>
          <p:cNvSpPr/>
          <p:nvPr/>
        </p:nvSpPr>
        <p:spPr>
          <a:xfrm>
            <a:off x="1371600" y="4937760"/>
            <a:ext cx="4480560" cy="457200"/>
          </a:xfrm>
          <a:prstGeom prst="roundRect">
            <a:avLst>
              <a:gd name="adj" fmla="val 16000"/>
            </a:avLst>
          </a:prstGeom>
          <a:solidFill>
            <a:srgbClr val="E1F5EE"/>
          </a:solidFill>
          <a:ln/>
        </p:spPr>
      </p:sp>
      <p:sp>
        <p:nvSpPr>
          <p:cNvPr id="6" name="Text 3"/>
          <p:cNvSpPr/>
          <p:nvPr/>
        </p:nvSpPr>
        <p:spPr>
          <a:xfrm>
            <a:off x="1554480" y="4937760"/>
            <a:ext cx="4206240" cy="457200"/>
          </a:xfrm>
          <a:prstGeom prst="rect">
            <a:avLst/>
          </a:prstGeom>
          <a:noFill/>
          <a:ln/>
        </p:spPr>
        <p:txBody>
          <a:bodyPr wrap="square" lIns="0" tIns="0" rIns="0" bIns="0" rtlCol="0" anchor="ctr"/>
          <a:lstStyle/>
          <a:p>
            <a:pPr indent="0" marL="0">
              <a:buNone/>
            </a:pPr>
            <a:r>
              <a:rPr lang="en-US" sz="1200" dirty="0">
                <a:solidFill>
                  <a:srgbClr val="0F6E56"/>
                </a:solidFill>
                <a:latin typeface="Calibri" pitchFamily="34" charset="0"/>
                <a:ea typeface="Calibri" pitchFamily="34" charset="-122"/>
                <a:cs typeface="Calibri" pitchFamily="34" charset="-120"/>
              </a:rPr>
              <a:t>Indexing phase — runs once per video</a:t>
            </a:r>
            <a:endParaRPr lang="en-US" sz="1200" dirty="0"/>
          </a:p>
        </p:txBody>
      </p:sp>
      <p:sp>
        <p:nvSpPr>
          <p:cNvPr id="7" name="Shape 4"/>
          <p:cNvSpPr/>
          <p:nvPr/>
        </p:nvSpPr>
        <p:spPr>
          <a:xfrm>
            <a:off x="6309360" y="4937760"/>
            <a:ext cx="4480560" cy="457200"/>
          </a:xfrm>
          <a:prstGeom prst="roundRect">
            <a:avLst>
              <a:gd name="adj" fmla="val 16000"/>
            </a:avLst>
          </a:prstGeom>
          <a:solidFill>
            <a:srgbClr val="EEEDFE"/>
          </a:solidFill>
          <a:ln/>
        </p:spPr>
      </p:sp>
      <p:sp>
        <p:nvSpPr>
          <p:cNvPr id="8" name="Text 5"/>
          <p:cNvSpPr/>
          <p:nvPr/>
        </p:nvSpPr>
        <p:spPr>
          <a:xfrm>
            <a:off x="6492240" y="4937760"/>
            <a:ext cx="4206240" cy="457200"/>
          </a:xfrm>
          <a:prstGeom prst="rect">
            <a:avLst/>
          </a:prstGeom>
          <a:noFill/>
          <a:ln/>
        </p:spPr>
        <p:txBody>
          <a:bodyPr wrap="square" lIns="0" tIns="0" rIns="0" bIns="0" rtlCol="0" anchor="ctr"/>
          <a:lstStyle/>
          <a:p>
            <a:pPr indent="0" marL="0">
              <a:buNone/>
            </a:pPr>
            <a:r>
              <a:rPr lang="en-US" sz="1200" dirty="0">
                <a:solidFill>
                  <a:srgbClr val="534AB7"/>
                </a:solidFill>
                <a:latin typeface="Calibri" pitchFamily="34" charset="0"/>
                <a:ea typeface="Calibri" pitchFamily="34" charset="-122"/>
                <a:cs typeface="Calibri" pitchFamily="34" charset="-120"/>
              </a:rPr>
              <a:t>Query phase — runs per question</a:t>
            </a:r>
            <a:endParaRPr lang="en-US" sz="1200" dirty="0"/>
          </a:p>
        </p:txBody>
      </p:sp>
      <p:sp>
        <p:nvSpPr>
          <p:cNvPr id="10" name="Text 6"/>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Not all questions are the same</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Broad questions (summaries) and specific questions (lookups) need different retrieval strategies</a:t>
            </a:r>
            <a:endParaRPr lang="en-US" sz="1400" dirty="0"/>
          </a:p>
        </p:txBody>
      </p:sp>
      <p:pic>
        <p:nvPicPr>
          <p:cNvPr id="4" name="Image 0" descr="/home/claude/chat-with-youtube/presentation/query_routing_diagram.png">    </p:cNvPr>
          <p:cNvPicPr>
            <a:picLocks noChangeAspect="1"/>
          </p:cNvPicPr>
          <p:nvPr/>
        </p:nvPicPr>
        <p:blipFill>
          <a:blip r:embed="rId1"/>
          <a:stretch>
            <a:fillRect/>
          </a:stretch>
        </p:blipFill>
        <p:spPr>
          <a:xfrm>
            <a:off x="3566160" y="1508760"/>
            <a:ext cx="5029200" cy="3182112"/>
          </a:xfrm>
          <a:prstGeom prst="rect">
            <a:avLst/>
          </a:prstGeom>
        </p:spPr>
      </p:pic>
      <p:sp>
        <p:nvSpPr>
          <p:cNvPr id="6" name="Text 2"/>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Technology stack</a:t>
            </a:r>
            <a:endParaRPr lang="en-US" sz="3000" dirty="0"/>
          </a:p>
        </p:txBody>
      </p:sp>
      <p:sp>
        <p:nvSpPr>
          <p:cNvPr id="3" name="Shape 1"/>
          <p:cNvSpPr/>
          <p:nvPr/>
        </p:nvSpPr>
        <p:spPr>
          <a:xfrm>
            <a:off x="548640" y="1554480"/>
            <a:ext cx="2606040" cy="1737360"/>
          </a:xfrm>
          <a:prstGeom prst="roundRect">
            <a:avLst>
              <a:gd name="adj" fmla="val 5263"/>
            </a:avLst>
          </a:prstGeom>
          <a:solidFill>
            <a:srgbClr val="FFFFFF"/>
          </a:solidFill>
          <a:ln w="12700">
            <a:solidFill>
              <a:srgbClr val="E2E4E8"/>
            </a:solidFill>
            <a:prstDash val="solid"/>
          </a:ln>
        </p:spPr>
      </p:sp>
      <p:sp>
        <p:nvSpPr>
          <p:cNvPr id="4" name="Shape 2"/>
          <p:cNvSpPr/>
          <p:nvPr/>
        </p:nvSpPr>
        <p:spPr>
          <a:xfrm>
            <a:off x="777240" y="1783080"/>
            <a:ext cx="548640" cy="548640"/>
          </a:xfrm>
          <a:prstGeom prst="ellipse">
            <a:avLst/>
          </a:prstGeom>
          <a:solidFill>
            <a:srgbClr val="0B3D62"/>
          </a:solidFill>
          <a:ln/>
        </p:spPr>
      </p:sp>
      <p:pic>
        <p:nvPicPr>
          <p:cNvPr id="5" name="Image 0" descr="/home/claude/chat-with-youtube/presentation/icons_python.png">    </p:cNvPr>
          <p:cNvPicPr>
            <a:picLocks noChangeAspect="1"/>
          </p:cNvPicPr>
          <p:nvPr/>
        </p:nvPicPr>
        <p:blipFill>
          <a:blip r:embed="rId1"/>
          <a:stretch>
            <a:fillRect/>
          </a:stretch>
        </p:blipFill>
        <p:spPr>
          <a:xfrm>
            <a:off x="832104" y="1837944"/>
            <a:ext cx="438912" cy="438912"/>
          </a:xfrm>
          <a:prstGeom prst="rect">
            <a:avLst/>
          </a:prstGeom>
        </p:spPr>
      </p:pic>
      <p:sp>
        <p:nvSpPr>
          <p:cNvPr id="6" name="Text 3"/>
          <p:cNvSpPr/>
          <p:nvPr/>
        </p:nvSpPr>
        <p:spPr>
          <a:xfrm>
            <a:off x="731520" y="2423160"/>
            <a:ext cx="2240280" cy="502920"/>
          </a:xfrm>
          <a:prstGeom prst="rect">
            <a:avLst/>
          </a:prstGeom>
          <a:noFill/>
          <a:ln/>
        </p:spPr>
        <p:txBody>
          <a:bodyPr wrap="square" lIns="0" tIns="0" rIns="0" bIns="0" rtlCol="0" anchor="t"/>
          <a:lstStyle/>
          <a:p>
            <a:pPr indent="0" marL="0">
              <a:buNone/>
            </a:pPr>
            <a:r>
              <a:rPr lang="en-US" sz="1250" b="1" dirty="0">
                <a:solidFill>
                  <a:srgbClr val="1A1A1A"/>
                </a:solidFill>
                <a:latin typeface="Cambria" pitchFamily="34" charset="0"/>
                <a:ea typeface="Cambria" pitchFamily="34" charset="-122"/>
                <a:cs typeface="Cambria" pitchFamily="34" charset="-120"/>
              </a:rPr>
              <a:t>Python 3</a:t>
            </a:r>
            <a:endParaRPr lang="en-US" sz="1250" dirty="0"/>
          </a:p>
        </p:txBody>
      </p:sp>
      <p:sp>
        <p:nvSpPr>
          <p:cNvPr id="7" name="Text 4"/>
          <p:cNvSpPr/>
          <p:nvPr/>
        </p:nvSpPr>
        <p:spPr>
          <a:xfrm>
            <a:off x="731520" y="2880360"/>
            <a:ext cx="2240280" cy="365760"/>
          </a:xfrm>
          <a:prstGeom prst="rect">
            <a:avLst/>
          </a:prstGeom>
          <a:noFill/>
          <a:ln/>
        </p:spPr>
        <p:txBody>
          <a:bodyPr wrap="square" lIns="0" tIns="0" rIns="0" bIns="0" rtlCol="0" anchor="ctr"/>
          <a:lstStyle/>
          <a:p>
            <a:pPr indent="0" marL="0">
              <a:buNone/>
            </a:pPr>
            <a:r>
              <a:rPr lang="en-US" sz="1000" dirty="0">
                <a:solidFill>
                  <a:srgbClr val="5F5E5A"/>
                </a:solidFill>
                <a:latin typeface="Calibri" pitchFamily="34" charset="0"/>
                <a:ea typeface="Calibri" pitchFamily="34" charset="-122"/>
                <a:cs typeface="Calibri" pitchFamily="34" charset="-120"/>
              </a:rPr>
              <a:t>Core language</a:t>
            </a:r>
            <a:endParaRPr lang="en-US" sz="1000" dirty="0"/>
          </a:p>
        </p:txBody>
      </p:sp>
      <p:sp>
        <p:nvSpPr>
          <p:cNvPr id="8" name="Shape 5"/>
          <p:cNvSpPr/>
          <p:nvPr/>
        </p:nvSpPr>
        <p:spPr>
          <a:xfrm>
            <a:off x="3410712" y="1554480"/>
            <a:ext cx="2606040" cy="1737360"/>
          </a:xfrm>
          <a:prstGeom prst="roundRect">
            <a:avLst>
              <a:gd name="adj" fmla="val 5263"/>
            </a:avLst>
          </a:prstGeom>
          <a:solidFill>
            <a:srgbClr val="FFFFFF"/>
          </a:solidFill>
          <a:ln w="12700">
            <a:solidFill>
              <a:srgbClr val="E2E4E8"/>
            </a:solidFill>
            <a:prstDash val="solid"/>
          </a:ln>
        </p:spPr>
      </p:sp>
      <p:sp>
        <p:nvSpPr>
          <p:cNvPr id="9" name="Shape 6"/>
          <p:cNvSpPr/>
          <p:nvPr/>
        </p:nvSpPr>
        <p:spPr>
          <a:xfrm>
            <a:off x="3639312" y="1783080"/>
            <a:ext cx="548640" cy="548640"/>
          </a:xfrm>
          <a:prstGeom prst="ellipse">
            <a:avLst/>
          </a:prstGeom>
          <a:solidFill>
            <a:srgbClr val="0B3D62"/>
          </a:solidFill>
          <a:ln/>
        </p:spPr>
      </p:sp>
      <p:pic>
        <p:nvPicPr>
          <p:cNvPr id="10" name="Image 1" descr="/home/claude/chat-with-youtube/presentation/icons_layer.png">    </p:cNvPr>
          <p:cNvPicPr>
            <a:picLocks noChangeAspect="1"/>
          </p:cNvPicPr>
          <p:nvPr/>
        </p:nvPicPr>
        <p:blipFill>
          <a:blip r:embed="rId2"/>
          <a:stretch>
            <a:fillRect/>
          </a:stretch>
        </p:blipFill>
        <p:spPr>
          <a:xfrm>
            <a:off x="3694176" y="1837944"/>
            <a:ext cx="438912" cy="438912"/>
          </a:xfrm>
          <a:prstGeom prst="rect">
            <a:avLst/>
          </a:prstGeom>
        </p:spPr>
      </p:pic>
      <p:sp>
        <p:nvSpPr>
          <p:cNvPr id="11" name="Text 7"/>
          <p:cNvSpPr/>
          <p:nvPr/>
        </p:nvSpPr>
        <p:spPr>
          <a:xfrm>
            <a:off x="3593592" y="2423160"/>
            <a:ext cx="2240280" cy="502920"/>
          </a:xfrm>
          <a:prstGeom prst="rect">
            <a:avLst/>
          </a:prstGeom>
          <a:noFill/>
          <a:ln/>
        </p:spPr>
        <p:txBody>
          <a:bodyPr wrap="square" lIns="0" tIns="0" rIns="0" bIns="0" rtlCol="0" anchor="t"/>
          <a:lstStyle/>
          <a:p>
            <a:pPr indent="0" marL="0">
              <a:buNone/>
            </a:pPr>
            <a:r>
              <a:rPr lang="en-US" sz="1250" b="1" dirty="0">
                <a:solidFill>
                  <a:srgbClr val="1A1A1A"/>
                </a:solidFill>
                <a:latin typeface="Cambria" pitchFamily="34" charset="0"/>
                <a:ea typeface="Cambria" pitchFamily="34" charset="-122"/>
                <a:cs typeface="Cambria" pitchFamily="34" charset="-120"/>
              </a:rPr>
              <a:t>Streamlit</a:t>
            </a:r>
            <a:endParaRPr lang="en-US" sz="1250" dirty="0"/>
          </a:p>
        </p:txBody>
      </p:sp>
      <p:sp>
        <p:nvSpPr>
          <p:cNvPr id="12" name="Text 8"/>
          <p:cNvSpPr/>
          <p:nvPr/>
        </p:nvSpPr>
        <p:spPr>
          <a:xfrm>
            <a:off x="3593592" y="2880360"/>
            <a:ext cx="2240280" cy="365760"/>
          </a:xfrm>
          <a:prstGeom prst="rect">
            <a:avLst/>
          </a:prstGeom>
          <a:noFill/>
          <a:ln/>
        </p:spPr>
        <p:txBody>
          <a:bodyPr wrap="square" lIns="0" tIns="0" rIns="0" bIns="0" rtlCol="0" anchor="ctr"/>
          <a:lstStyle/>
          <a:p>
            <a:pPr indent="0" marL="0">
              <a:buNone/>
            </a:pPr>
            <a:r>
              <a:rPr lang="en-US" sz="1000" dirty="0">
                <a:solidFill>
                  <a:srgbClr val="5F5E5A"/>
                </a:solidFill>
                <a:latin typeface="Calibri" pitchFamily="34" charset="0"/>
                <a:ea typeface="Calibri" pitchFamily="34" charset="-122"/>
                <a:cs typeface="Calibri" pitchFamily="34" charset="-120"/>
              </a:rPr>
              <a:t>Chat interface + player</a:t>
            </a:r>
            <a:endParaRPr lang="en-US" sz="1000" dirty="0"/>
          </a:p>
        </p:txBody>
      </p:sp>
      <p:sp>
        <p:nvSpPr>
          <p:cNvPr id="13" name="Shape 9"/>
          <p:cNvSpPr/>
          <p:nvPr/>
        </p:nvSpPr>
        <p:spPr>
          <a:xfrm>
            <a:off x="6272784" y="1554480"/>
            <a:ext cx="2606040" cy="1737360"/>
          </a:xfrm>
          <a:prstGeom prst="roundRect">
            <a:avLst>
              <a:gd name="adj" fmla="val 5263"/>
            </a:avLst>
          </a:prstGeom>
          <a:solidFill>
            <a:srgbClr val="FFFFFF"/>
          </a:solidFill>
          <a:ln w="12700">
            <a:solidFill>
              <a:srgbClr val="E2E4E8"/>
            </a:solidFill>
            <a:prstDash val="solid"/>
          </a:ln>
        </p:spPr>
      </p:sp>
      <p:sp>
        <p:nvSpPr>
          <p:cNvPr id="14" name="Shape 10"/>
          <p:cNvSpPr/>
          <p:nvPr/>
        </p:nvSpPr>
        <p:spPr>
          <a:xfrm>
            <a:off x="6501384" y="1783080"/>
            <a:ext cx="548640" cy="548640"/>
          </a:xfrm>
          <a:prstGeom prst="ellipse">
            <a:avLst/>
          </a:prstGeom>
          <a:solidFill>
            <a:srgbClr val="0B3D62"/>
          </a:solidFill>
          <a:ln/>
        </p:spPr>
      </p:sp>
      <p:pic>
        <p:nvPicPr>
          <p:cNvPr id="15" name="Image 2" descr="/home/claude/chat-with-youtube/presentation/icons_extract.png">    </p:cNvPr>
          <p:cNvPicPr>
            <a:picLocks noChangeAspect="1"/>
          </p:cNvPicPr>
          <p:nvPr/>
        </p:nvPicPr>
        <p:blipFill>
          <a:blip r:embed="rId3"/>
          <a:stretch>
            <a:fillRect/>
          </a:stretch>
        </p:blipFill>
        <p:spPr>
          <a:xfrm>
            <a:off x="6556248" y="1837944"/>
            <a:ext cx="438912" cy="438912"/>
          </a:xfrm>
          <a:prstGeom prst="rect">
            <a:avLst/>
          </a:prstGeom>
        </p:spPr>
      </p:pic>
      <p:sp>
        <p:nvSpPr>
          <p:cNvPr id="16" name="Text 11"/>
          <p:cNvSpPr/>
          <p:nvPr/>
        </p:nvSpPr>
        <p:spPr>
          <a:xfrm>
            <a:off x="6455664" y="2423160"/>
            <a:ext cx="2240280" cy="502920"/>
          </a:xfrm>
          <a:prstGeom prst="rect">
            <a:avLst/>
          </a:prstGeom>
          <a:noFill/>
          <a:ln/>
        </p:spPr>
        <p:txBody>
          <a:bodyPr wrap="square" lIns="0" tIns="0" rIns="0" bIns="0" rtlCol="0" anchor="t"/>
          <a:lstStyle/>
          <a:p>
            <a:pPr indent="0" marL="0">
              <a:buNone/>
            </a:pPr>
            <a:r>
              <a:rPr lang="en-US" sz="1250" b="1" dirty="0">
                <a:solidFill>
                  <a:srgbClr val="1A1A1A"/>
                </a:solidFill>
                <a:latin typeface="Cambria" pitchFamily="34" charset="0"/>
                <a:ea typeface="Cambria" pitchFamily="34" charset="-122"/>
                <a:cs typeface="Cambria" pitchFamily="34" charset="-120"/>
              </a:rPr>
              <a:t>youtube-transcript-api</a:t>
            </a:r>
            <a:endParaRPr lang="en-US" sz="1250" dirty="0"/>
          </a:p>
        </p:txBody>
      </p:sp>
      <p:sp>
        <p:nvSpPr>
          <p:cNvPr id="17" name="Text 12"/>
          <p:cNvSpPr/>
          <p:nvPr/>
        </p:nvSpPr>
        <p:spPr>
          <a:xfrm>
            <a:off x="6455664" y="2880360"/>
            <a:ext cx="2240280" cy="365760"/>
          </a:xfrm>
          <a:prstGeom prst="rect">
            <a:avLst/>
          </a:prstGeom>
          <a:noFill/>
          <a:ln/>
        </p:spPr>
        <p:txBody>
          <a:bodyPr wrap="square" lIns="0" tIns="0" rIns="0" bIns="0" rtlCol="0" anchor="ctr"/>
          <a:lstStyle/>
          <a:p>
            <a:pPr indent="0" marL="0">
              <a:buNone/>
            </a:pPr>
            <a:r>
              <a:rPr lang="en-US" sz="1000" dirty="0">
                <a:solidFill>
                  <a:srgbClr val="5F5E5A"/>
                </a:solidFill>
                <a:latin typeface="Calibri" pitchFamily="34" charset="0"/>
                <a:ea typeface="Calibri" pitchFamily="34" charset="-122"/>
                <a:cs typeface="Calibri" pitchFamily="34" charset="-120"/>
              </a:rPr>
              <a:t>Primary transcript source</a:t>
            </a:r>
            <a:endParaRPr lang="en-US" sz="1000" dirty="0"/>
          </a:p>
        </p:txBody>
      </p:sp>
      <p:sp>
        <p:nvSpPr>
          <p:cNvPr id="18" name="Shape 13"/>
          <p:cNvSpPr/>
          <p:nvPr/>
        </p:nvSpPr>
        <p:spPr>
          <a:xfrm>
            <a:off x="9134856" y="1554480"/>
            <a:ext cx="2606040" cy="1737360"/>
          </a:xfrm>
          <a:prstGeom prst="roundRect">
            <a:avLst>
              <a:gd name="adj" fmla="val 5263"/>
            </a:avLst>
          </a:prstGeom>
          <a:solidFill>
            <a:srgbClr val="FFFFFF"/>
          </a:solidFill>
          <a:ln w="12700">
            <a:solidFill>
              <a:srgbClr val="E2E4E8"/>
            </a:solidFill>
            <a:prstDash val="solid"/>
          </a:ln>
        </p:spPr>
      </p:sp>
      <p:sp>
        <p:nvSpPr>
          <p:cNvPr id="19" name="Shape 14"/>
          <p:cNvSpPr/>
          <p:nvPr/>
        </p:nvSpPr>
        <p:spPr>
          <a:xfrm>
            <a:off x="9363456" y="1783080"/>
            <a:ext cx="548640" cy="548640"/>
          </a:xfrm>
          <a:prstGeom prst="ellipse">
            <a:avLst/>
          </a:prstGeom>
          <a:solidFill>
            <a:srgbClr val="0B3D62"/>
          </a:solidFill>
          <a:ln/>
        </p:spPr>
      </p:sp>
      <p:pic>
        <p:nvPicPr>
          <p:cNvPr id="20" name="Image 3" descr="/home/claude/chat-with-youtube/presentation/icons_cloud.png">    </p:cNvPr>
          <p:cNvPicPr>
            <a:picLocks noChangeAspect="1"/>
          </p:cNvPicPr>
          <p:nvPr/>
        </p:nvPicPr>
        <p:blipFill>
          <a:blip r:embed="rId4"/>
          <a:stretch>
            <a:fillRect/>
          </a:stretch>
        </p:blipFill>
        <p:spPr>
          <a:xfrm>
            <a:off x="9418320" y="1837944"/>
            <a:ext cx="438912" cy="438912"/>
          </a:xfrm>
          <a:prstGeom prst="rect">
            <a:avLst/>
          </a:prstGeom>
        </p:spPr>
      </p:pic>
      <p:sp>
        <p:nvSpPr>
          <p:cNvPr id="21" name="Text 15"/>
          <p:cNvSpPr/>
          <p:nvPr/>
        </p:nvSpPr>
        <p:spPr>
          <a:xfrm>
            <a:off x="9317736" y="2423160"/>
            <a:ext cx="2240280" cy="502920"/>
          </a:xfrm>
          <a:prstGeom prst="rect">
            <a:avLst/>
          </a:prstGeom>
          <a:noFill/>
          <a:ln/>
        </p:spPr>
        <p:txBody>
          <a:bodyPr wrap="square" lIns="0" tIns="0" rIns="0" bIns="0" rtlCol="0" anchor="t"/>
          <a:lstStyle/>
          <a:p>
            <a:pPr indent="0" marL="0">
              <a:buNone/>
            </a:pPr>
            <a:r>
              <a:rPr lang="en-US" sz="1250" b="1" dirty="0">
                <a:solidFill>
                  <a:srgbClr val="1A1A1A"/>
                </a:solidFill>
                <a:latin typeface="Cambria" pitchFamily="34" charset="0"/>
                <a:ea typeface="Cambria" pitchFamily="34" charset="-122"/>
                <a:cs typeface="Cambria" pitchFamily="34" charset="-120"/>
              </a:rPr>
              <a:t>yt-dlp + Whisper</a:t>
            </a:r>
            <a:endParaRPr lang="en-US" sz="1250" dirty="0"/>
          </a:p>
        </p:txBody>
      </p:sp>
      <p:sp>
        <p:nvSpPr>
          <p:cNvPr id="22" name="Text 16"/>
          <p:cNvSpPr/>
          <p:nvPr/>
        </p:nvSpPr>
        <p:spPr>
          <a:xfrm>
            <a:off x="9317736" y="2880360"/>
            <a:ext cx="2240280" cy="365760"/>
          </a:xfrm>
          <a:prstGeom prst="rect">
            <a:avLst/>
          </a:prstGeom>
          <a:noFill/>
          <a:ln/>
        </p:spPr>
        <p:txBody>
          <a:bodyPr wrap="square" lIns="0" tIns="0" rIns="0" bIns="0" rtlCol="0" anchor="ctr"/>
          <a:lstStyle/>
          <a:p>
            <a:pPr indent="0" marL="0">
              <a:buNone/>
            </a:pPr>
            <a:r>
              <a:rPr lang="en-US" sz="1000" dirty="0">
                <a:solidFill>
                  <a:srgbClr val="5F5E5A"/>
                </a:solidFill>
                <a:latin typeface="Calibri" pitchFamily="34" charset="0"/>
                <a:ea typeface="Calibri" pitchFamily="34" charset="-122"/>
                <a:cs typeface="Calibri" pitchFamily="34" charset="-120"/>
              </a:rPr>
              <a:t>Fallback transcript path</a:t>
            </a:r>
            <a:endParaRPr lang="en-US" sz="1000" dirty="0"/>
          </a:p>
        </p:txBody>
      </p:sp>
      <p:sp>
        <p:nvSpPr>
          <p:cNvPr id="23" name="Shape 17"/>
          <p:cNvSpPr/>
          <p:nvPr/>
        </p:nvSpPr>
        <p:spPr>
          <a:xfrm>
            <a:off x="548640" y="3611880"/>
            <a:ext cx="2606040" cy="1737360"/>
          </a:xfrm>
          <a:prstGeom prst="roundRect">
            <a:avLst>
              <a:gd name="adj" fmla="val 5263"/>
            </a:avLst>
          </a:prstGeom>
          <a:solidFill>
            <a:srgbClr val="FFFFFF"/>
          </a:solidFill>
          <a:ln w="12700">
            <a:solidFill>
              <a:srgbClr val="E2E4E8"/>
            </a:solidFill>
            <a:prstDash val="solid"/>
          </a:ln>
        </p:spPr>
      </p:sp>
      <p:sp>
        <p:nvSpPr>
          <p:cNvPr id="24" name="Shape 18"/>
          <p:cNvSpPr/>
          <p:nvPr/>
        </p:nvSpPr>
        <p:spPr>
          <a:xfrm>
            <a:off x="777240" y="3840480"/>
            <a:ext cx="548640" cy="548640"/>
          </a:xfrm>
          <a:prstGeom prst="ellipse">
            <a:avLst/>
          </a:prstGeom>
          <a:solidFill>
            <a:srgbClr val="0B3D62"/>
          </a:solidFill>
          <a:ln/>
        </p:spPr>
      </p:sp>
      <p:pic>
        <p:nvPicPr>
          <p:cNvPr id="25" name="Image 4" descr="/home/claude/chat-with-youtube/presentation/icons_brain.png">    </p:cNvPr>
          <p:cNvPicPr>
            <a:picLocks noChangeAspect="1"/>
          </p:cNvPicPr>
          <p:nvPr/>
        </p:nvPicPr>
        <p:blipFill>
          <a:blip r:embed="rId5"/>
          <a:stretch>
            <a:fillRect/>
          </a:stretch>
        </p:blipFill>
        <p:spPr>
          <a:xfrm>
            <a:off x="832104" y="3895344"/>
            <a:ext cx="438912" cy="438912"/>
          </a:xfrm>
          <a:prstGeom prst="rect">
            <a:avLst/>
          </a:prstGeom>
        </p:spPr>
      </p:pic>
      <p:sp>
        <p:nvSpPr>
          <p:cNvPr id="26" name="Text 19"/>
          <p:cNvSpPr/>
          <p:nvPr/>
        </p:nvSpPr>
        <p:spPr>
          <a:xfrm>
            <a:off x="731520" y="4480560"/>
            <a:ext cx="2240280" cy="502920"/>
          </a:xfrm>
          <a:prstGeom prst="rect">
            <a:avLst/>
          </a:prstGeom>
          <a:noFill/>
          <a:ln/>
        </p:spPr>
        <p:txBody>
          <a:bodyPr wrap="square" lIns="0" tIns="0" rIns="0" bIns="0" rtlCol="0" anchor="t"/>
          <a:lstStyle/>
          <a:p>
            <a:pPr indent="0" marL="0">
              <a:buNone/>
            </a:pPr>
            <a:r>
              <a:rPr lang="en-US" sz="1250" b="1" dirty="0">
                <a:solidFill>
                  <a:srgbClr val="1A1A1A"/>
                </a:solidFill>
                <a:latin typeface="Cambria" pitchFamily="34" charset="0"/>
                <a:ea typeface="Cambria" pitchFamily="34" charset="-122"/>
                <a:cs typeface="Cambria" pitchFamily="34" charset="-120"/>
              </a:rPr>
              <a:t>sentence-transformers</a:t>
            </a:r>
            <a:endParaRPr lang="en-US" sz="1250" dirty="0"/>
          </a:p>
        </p:txBody>
      </p:sp>
      <p:sp>
        <p:nvSpPr>
          <p:cNvPr id="27" name="Text 20"/>
          <p:cNvSpPr/>
          <p:nvPr/>
        </p:nvSpPr>
        <p:spPr>
          <a:xfrm>
            <a:off x="731520" y="4937760"/>
            <a:ext cx="2240280" cy="365760"/>
          </a:xfrm>
          <a:prstGeom prst="rect">
            <a:avLst/>
          </a:prstGeom>
          <a:noFill/>
          <a:ln/>
        </p:spPr>
        <p:txBody>
          <a:bodyPr wrap="square" lIns="0" tIns="0" rIns="0" bIns="0" rtlCol="0" anchor="ctr"/>
          <a:lstStyle/>
          <a:p>
            <a:pPr indent="0" marL="0">
              <a:buNone/>
            </a:pPr>
            <a:r>
              <a:rPr lang="en-US" sz="1000" dirty="0">
                <a:solidFill>
                  <a:srgbClr val="5F5E5A"/>
                </a:solidFill>
                <a:latin typeface="Calibri" pitchFamily="34" charset="0"/>
                <a:ea typeface="Calibri" pitchFamily="34" charset="-122"/>
                <a:cs typeface="Calibri" pitchFamily="34" charset="-120"/>
              </a:rPr>
              <a:t>CPU embeddings</a:t>
            </a:r>
            <a:endParaRPr lang="en-US" sz="1000" dirty="0"/>
          </a:p>
        </p:txBody>
      </p:sp>
      <p:sp>
        <p:nvSpPr>
          <p:cNvPr id="28" name="Shape 21"/>
          <p:cNvSpPr/>
          <p:nvPr/>
        </p:nvSpPr>
        <p:spPr>
          <a:xfrm>
            <a:off x="3410712" y="3611880"/>
            <a:ext cx="2606040" cy="1737360"/>
          </a:xfrm>
          <a:prstGeom prst="roundRect">
            <a:avLst>
              <a:gd name="adj" fmla="val 5263"/>
            </a:avLst>
          </a:prstGeom>
          <a:solidFill>
            <a:srgbClr val="FFFFFF"/>
          </a:solidFill>
          <a:ln w="12700">
            <a:solidFill>
              <a:srgbClr val="E2E4E8"/>
            </a:solidFill>
            <a:prstDash val="solid"/>
          </a:ln>
        </p:spPr>
      </p:sp>
      <p:sp>
        <p:nvSpPr>
          <p:cNvPr id="29" name="Shape 22"/>
          <p:cNvSpPr/>
          <p:nvPr/>
        </p:nvSpPr>
        <p:spPr>
          <a:xfrm>
            <a:off x="3639312" y="3840480"/>
            <a:ext cx="548640" cy="548640"/>
          </a:xfrm>
          <a:prstGeom prst="ellipse">
            <a:avLst/>
          </a:prstGeom>
          <a:solidFill>
            <a:srgbClr val="0B3D62"/>
          </a:solidFill>
          <a:ln/>
        </p:spPr>
      </p:sp>
      <p:pic>
        <p:nvPicPr>
          <p:cNvPr id="30" name="Image 5" descr="/home/claude/chat-with-youtube/presentation/icons_database.png">    </p:cNvPr>
          <p:cNvPicPr>
            <a:picLocks noChangeAspect="1"/>
          </p:cNvPicPr>
          <p:nvPr/>
        </p:nvPicPr>
        <p:blipFill>
          <a:blip r:embed="rId6"/>
          <a:stretch>
            <a:fillRect/>
          </a:stretch>
        </p:blipFill>
        <p:spPr>
          <a:xfrm>
            <a:off x="3694176" y="3895344"/>
            <a:ext cx="438912" cy="438912"/>
          </a:xfrm>
          <a:prstGeom prst="rect">
            <a:avLst/>
          </a:prstGeom>
        </p:spPr>
      </p:pic>
      <p:sp>
        <p:nvSpPr>
          <p:cNvPr id="31" name="Text 23"/>
          <p:cNvSpPr/>
          <p:nvPr/>
        </p:nvSpPr>
        <p:spPr>
          <a:xfrm>
            <a:off x="3593592" y="4480560"/>
            <a:ext cx="2240280" cy="502920"/>
          </a:xfrm>
          <a:prstGeom prst="rect">
            <a:avLst/>
          </a:prstGeom>
          <a:noFill/>
          <a:ln/>
        </p:spPr>
        <p:txBody>
          <a:bodyPr wrap="square" lIns="0" tIns="0" rIns="0" bIns="0" rtlCol="0" anchor="t"/>
          <a:lstStyle/>
          <a:p>
            <a:pPr indent="0" marL="0">
              <a:buNone/>
            </a:pPr>
            <a:r>
              <a:rPr lang="en-US" sz="1250" b="1" dirty="0">
                <a:solidFill>
                  <a:srgbClr val="1A1A1A"/>
                </a:solidFill>
                <a:latin typeface="Cambria" pitchFamily="34" charset="0"/>
                <a:ea typeface="Cambria" pitchFamily="34" charset="-122"/>
                <a:cs typeface="Cambria" pitchFamily="34" charset="-120"/>
              </a:rPr>
              <a:t>FAISS</a:t>
            </a:r>
            <a:endParaRPr lang="en-US" sz="1250" dirty="0"/>
          </a:p>
        </p:txBody>
      </p:sp>
      <p:sp>
        <p:nvSpPr>
          <p:cNvPr id="32" name="Text 24"/>
          <p:cNvSpPr/>
          <p:nvPr/>
        </p:nvSpPr>
        <p:spPr>
          <a:xfrm>
            <a:off x="3593592" y="4937760"/>
            <a:ext cx="2240280" cy="365760"/>
          </a:xfrm>
          <a:prstGeom prst="rect">
            <a:avLst/>
          </a:prstGeom>
          <a:noFill/>
          <a:ln/>
        </p:spPr>
        <p:txBody>
          <a:bodyPr wrap="square" lIns="0" tIns="0" rIns="0" bIns="0" rtlCol="0" anchor="ctr"/>
          <a:lstStyle/>
          <a:p>
            <a:pPr indent="0" marL="0">
              <a:buNone/>
            </a:pPr>
            <a:r>
              <a:rPr lang="en-US" sz="1000" dirty="0">
                <a:solidFill>
                  <a:srgbClr val="5F5E5A"/>
                </a:solidFill>
                <a:latin typeface="Calibri" pitchFamily="34" charset="0"/>
                <a:ea typeface="Calibri" pitchFamily="34" charset="-122"/>
                <a:cs typeface="Calibri" pitchFamily="34" charset="-120"/>
              </a:rPr>
              <a:t>Vector search</a:t>
            </a:r>
            <a:endParaRPr lang="en-US" sz="1000" dirty="0"/>
          </a:p>
        </p:txBody>
      </p:sp>
      <p:sp>
        <p:nvSpPr>
          <p:cNvPr id="33" name="Shape 25"/>
          <p:cNvSpPr/>
          <p:nvPr/>
        </p:nvSpPr>
        <p:spPr>
          <a:xfrm>
            <a:off x="6272784" y="3611880"/>
            <a:ext cx="2606040" cy="1737360"/>
          </a:xfrm>
          <a:prstGeom prst="roundRect">
            <a:avLst>
              <a:gd name="adj" fmla="val 5263"/>
            </a:avLst>
          </a:prstGeom>
          <a:solidFill>
            <a:srgbClr val="FFFFFF"/>
          </a:solidFill>
          <a:ln w="12700">
            <a:solidFill>
              <a:srgbClr val="E2E4E8"/>
            </a:solidFill>
            <a:prstDash val="solid"/>
          </a:ln>
        </p:spPr>
      </p:sp>
      <p:sp>
        <p:nvSpPr>
          <p:cNvPr id="34" name="Shape 26"/>
          <p:cNvSpPr/>
          <p:nvPr/>
        </p:nvSpPr>
        <p:spPr>
          <a:xfrm>
            <a:off x="6501384" y="3840480"/>
            <a:ext cx="548640" cy="548640"/>
          </a:xfrm>
          <a:prstGeom prst="ellipse">
            <a:avLst/>
          </a:prstGeom>
          <a:solidFill>
            <a:srgbClr val="0B3D62"/>
          </a:solidFill>
          <a:ln/>
        </p:spPr>
      </p:sp>
      <p:pic>
        <p:nvPicPr>
          <p:cNvPr id="35" name="Image 6" descr="/home/claude/chat-with-youtube/presentation/icons_bolt.png">    </p:cNvPr>
          <p:cNvPicPr>
            <a:picLocks noChangeAspect="1"/>
          </p:cNvPicPr>
          <p:nvPr/>
        </p:nvPicPr>
        <p:blipFill>
          <a:blip r:embed="rId7"/>
          <a:stretch>
            <a:fillRect/>
          </a:stretch>
        </p:blipFill>
        <p:spPr>
          <a:xfrm>
            <a:off x="6556248" y="3895344"/>
            <a:ext cx="438912" cy="438912"/>
          </a:xfrm>
          <a:prstGeom prst="rect">
            <a:avLst/>
          </a:prstGeom>
        </p:spPr>
      </p:pic>
      <p:sp>
        <p:nvSpPr>
          <p:cNvPr id="36" name="Text 27"/>
          <p:cNvSpPr/>
          <p:nvPr/>
        </p:nvSpPr>
        <p:spPr>
          <a:xfrm>
            <a:off x="6455664" y="4480560"/>
            <a:ext cx="2240280" cy="502920"/>
          </a:xfrm>
          <a:prstGeom prst="rect">
            <a:avLst/>
          </a:prstGeom>
          <a:noFill/>
          <a:ln/>
        </p:spPr>
        <p:txBody>
          <a:bodyPr wrap="square" lIns="0" tIns="0" rIns="0" bIns="0" rtlCol="0" anchor="t"/>
          <a:lstStyle/>
          <a:p>
            <a:pPr indent="0" marL="0">
              <a:buNone/>
            </a:pPr>
            <a:r>
              <a:rPr lang="en-US" sz="1250" b="1" dirty="0">
                <a:solidFill>
                  <a:srgbClr val="1A1A1A"/>
                </a:solidFill>
                <a:latin typeface="Cambria" pitchFamily="34" charset="0"/>
                <a:ea typeface="Cambria" pitchFamily="34" charset="-122"/>
                <a:cs typeface="Cambria" pitchFamily="34" charset="-120"/>
              </a:rPr>
              <a:t>Groq API</a:t>
            </a:r>
            <a:endParaRPr lang="en-US" sz="1250" dirty="0"/>
          </a:p>
        </p:txBody>
      </p:sp>
      <p:sp>
        <p:nvSpPr>
          <p:cNvPr id="37" name="Text 28"/>
          <p:cNvSpPr/>
          <p:nvPr/>
        </p:nvSpPr>
        <p:spPr>
          <a:xfrm>
            <a:off x="6455664" y="4937760"/>
            <a:ext cx="2240280" cy="365760"/>
          </a:xfrm>
          <a:prstGeom prst="rect">
            <a:avLst/>
          </a:prstGeom>
          <a:noFill/>
          <a:ln/>
        </p:spPr>
        <p:txBody>
          <a:bodyPr wrap="square" lIns="0" tIns="0" rIns="0" bIns="0" rtlCol="0" anchor="ctr"/>
          <a:lstStyle/>
          <a:p>
            <a:pPr indent="0" marL="0">
              <a:buNone/>
            </a:pPr>
            <a:r>
              <a:rPr lang="en-US" sz="1000" dirty="0">
                <a:solidFill>
                  <a:srgbClr val="5F5E5A"/>
                </a:solidFill>
                <a:latin typeface="Calibri" pitchFamily="34" charset="0"/>
                <a:ea typeface="Calibri" pitchFamily="34" charset="-122"/>
                <a:cs typeface="Calibri" pitchFamily="34" charset="-120"/>
              </a:rPr>
              <a:t>Free LLM + Whisper inference</a:t>
            </a:r>
            <a:endParaRPr lang="en-US" sz="1000" dirty="0"/>
          </a:p>
        </p:txBody>
      </p:sp>
      <p:sp>
        <p:nvSpPr>
          <p:cNvPr id="38" name="Shape 29"/>
          <p:cNvSpPr/>
          <p:nvPr/>
        </p:nvSpPr>
        <p:spPr>
          <a:xfrm>
            <a:off x="9134856" y="3611880"/>
            <a:ext cx="2606040" cy="1737360"/>
          </a:xfrm>
          <a:prstGeom prst="roundRect">
            <a:avLst>
              <a:gd name="adj" fmla="val 5263"/>
            </a:avLst>
          </a:prstGeom>
          <a:solidFill>
            <a:srgbClr val="FFFFFF"/>
          </a:solidFill>
          <a:ln w="12700">
            <a:solidFill>
              <a:srgbClr val="E2E4E8"/>
            </a:solidFill>
            <a:prstDash val="solid"/>
          </a:ln>
        </p:spPr>
      </p:sp>
      <p:sp>
        <p:nvSpPr>
          <p:cNvPr id="39" name="Shape 30"/>
          <p:cNvSpPr/>
          <p:nvPr/>
        </p:nvSpPr>
        <p:spPr>
          <a:xfrm>
            <a:off x="9363456" y="3840480"/>
            <a:ext cx="548640" cy="548640"/>
          </a:xfrm>
          <a:prstGeom prst="ellipse">
            <a:avLst/>
          </a:prstGeom>
          <a:solidFill>
            <a:srgbClr val="0B3D62"/>
          </a:solidFill>
          <a:ln/>
        </p:spPr>
      </p:sp>
      <p:pic>
        <p:nvPicPr>
          <p:cNvPr id="40" name="Image 7" descr="/home/claude/chat-with-youtube/presentation/icons_check.png">    </p:cNvPr>
          <p:cNvPicPr>
            <a:picLocks noChangeAspect="1"/>
          </p:cNvPicPr>
          <p:nvPr/>
        </p:nvPicPr>
        <p:blipFill>
          <a:blip r:embed="rId8"/>
          <a:stretch>
            <a:fillRect/>
          </a:stretch>
        </p:blipFill>
        <p:spPr>
          <a:xfrm>
            <a:off x="9418320" y="3895344"/>
            <a:ext cx="438912" cy="438912"/>
          </a:xfrm>
          <a:prstGeom prst="rect">
            <a:avLst/>
          </a:prstGeom>
        </p:spPr>
      </p:pic>
      <p:sp>
        <p:nvSpPr>
          <p:cNvPr id="41" name="Text 31"/>
          <p:cNvSpPr/>
          <p:nvPr/>
        </p:nvSpPr>
        <p:spPr>
          <a:xfrm>
            <a:off x="9317736" y="4480560"/>
            <a:ext cx="2240280" cy="502920"/>
          </a:xfrm>
          <a:prstGeom prst="rect">
            <a:avLst/>
          </a:prstGeom>
          <a:noFill/>
          <a:ln/>
        </p:spPr>
        <p:txBody>
          <a:bodyPr wrap="square" lIns="0" tIns="0" rIns="0" bIns="0" rtlCol="0" anchor="t"/>
          <a:lstStyle/>
          <a:p>
            <a:pPr indent="0" marL="0">
              <a:buNone/>
            </a:pPr>
            <a:r>
              <a:rPr lang="en-US" sz="1250" b="1" dirty="0">
                <a:solidFill>
                  <a:srgbClr val="1A1A1A"/>
                </a:solidFill>
                <a:latin typeface="Cambria" pitchFamily="34" charset="0"/>
                <a:ea typeface="Cambria" pitchFamily="34" charset="-122"/>
                <a:cs typeface="Cambria" pitchFamily="34" charset="-120"/>
              </a:rPr>
              <a:t>Timestamp citations</a:t>
            </a:r>
            <a:endParaRPr lang="en-US" sz="1250" dirty="0"/>
          </a:p>
        </p:txBody>
      </p:sp>
      <p:sp>
        <p:nvSpPr>
          <p:cNvPr id="42" name="Text 32"/>
          <p:cNvSpPr/>
          <p:nvPr/>
        </p:nvSpPr>
        <p:spPr>
          <a:xfrm>
            <a:off x="9317736" y="4937760"/>
            <a:ext cx="2240280" cy="365760"/>
          </a:xfrm>
          <a:prstGeom prst="rect">
            <a:avLst/>
          </a:prstGeom>
          <a:noFill/>
          <a:ln/>
        </p:spPr>
        <p:txBody>
          <a:bodyPr wrap="square" lIns="0" tIns="0" rIns="0" bIns="0" rtlCol="0" anchor="ctr"/>
          <a:lstStyle/>
          <a:p>
            <a:pPr indent="0" marL="0">
              <a:buNone/>
            </a:pPr>
            <a:r>
              <a:rPr lang="en-US" sz="1000" dirty="0">
                <a:solidFill>
                  <a:srgbClr val="5F5E5A"/>
                </a:solidFill>
                <a:latin typeface="Calibri" pitchFamily="34" charset="0"/>
                <a:ea typeface="Calibri" pitchFamily="34" charset="-122"/>
                <a:cs typeface="Calibri" pitchFamily="34" charset="-120"/>
              </a:rPr>
              <a:t>Jumpable player seek</a:t>
            </a:r>
            <a:endParaRPr lang="en-US" sz="1000" dirty="0"/>
          </a:p>
        </p:txBody>
      </p:sp>
      <p:sp>
        <p:nvSpPr>
          <p:cNvPr id="43" name="Text 33"/>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Getting a transcript, reliably</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Not every video has captions — the pipeline tries three layers before giving up</a:t>
            </a:r>
            <a:endParaRPr lang="en-US" sz="1400" dirty="0"/>
          </a:p>
        </p:txBody>
      </p:sp>
      <p:sp>
        <p:nvSpPr>
          <p:cNvPr id="4" name="Shape 2"/>
          <p:cNvSpPr/>
          <p:nvPr/>
        </p:nvSpPr>
        <p:spPr>
          <a:xfrm>
            <a:off x="548640" y="1737360"/>
            <a:ext cx="3520440" cy="3566160"/>
          </a:xfrm>
          <a:prstGeom prst="roundRect">
            <a:avLst>
              <a:gd name="adj" fmla="val 3117"/>
            </a:avLst>
          </a:prstGeom>
          <a:solidFill>
            <a:srgbClr val="E1F5EE"/>
          </a:solidFill>
          <a:ln/>
        </p:spPr>
      </p:sp>
      <p:sp>
        <p:nvSpPr>
          <p:cNvPr id="5" name="Shape 3"/>
          <p:cNvSpPr/>
          <p:nvPr/>
        </p:nvSpPr>
        <p:spPr>
          <a:xfrm>
            <a:off x="868680" y="2057400"/>
            <a:ext cx="640080" cy="640080"/>
          </a:xfrm>
          <a:prstGeom prst="ellipse">
            <a:avLst/>
          </a:prstGeom>
          <a:solidFill>
            <a:srgbClr val="0F6E56"/>
          </a:solidFill>
          <a:ln/>
        </p:spPr>
      </p:sp>
      <p:pic>
        <p:nvPicPr>
          <p:cNvPr id="6" name="Image 0" descr="/home/claude/chat-with-youtube/presentation/icons_extract.png">    </p:cNvPr>
          <p:cNvPicPr>
            <a:picLocks noChangeAspect="1"/>
          </p:cNvPicPr>
          <p:nvPr/>
        </p:nvPicPr>
        <p:blipFill>
          <a:blip r:embed="rId1"/>
          <a:stretch>
            <a:fillRect/>
          </a:stretch>
        </p:blipFill>
        <p:spPr>
          <a:xfrm>
            <a:off x="932688" y="2121408"/>
            <a:ext cx="512064" cy="512064"/>
          </a:xfrm>
          <a:prstGeom prst="rect">
            <a:avLst/>
          </a:prstGeom>
        </p:spPr>
      </p:pic>
      <p:sp>
        <p:nvSpPr>
          <p:cNvPr id="7" name="Text 4"/>
          <p:cNvSpPr/>
          <p:nvPr/>
        </p:nvSpPr>
        <p:spPr>
          <a:xfrm>
            <a:off x="868680" y="2880360"/>
            <a:ext cx="2880360" cy="457200"/>
          </a:xfrm>
          <a:prstGeom prst="rect">
            <a:avLst/>
          </a:prstGeom>
          <a:noFill/>
          <a:ln/>
        </p:spPr>
        <p:txBody>
          <a:bodyPr wrap="square" lIns="0" tIns="0" rIns="0" bIns="0" rtlCol="0" anchor="ctr"/>
          <a:lstStyle/>
          <a:p>
            <a:pPr indent="0" marL="0">
              <a:buNone/>
            </a:pPr>
            <a:r>
              <a:rPr lang="en-US" sz="1500" b="1" dirty="0">
                <a:solidFill>
                  <a:srgbClr val="085041"/>
                </a:solidFill>
                <a:latin typeface="Cambria" pitchFamily="34" charset="0"/>
                <a:ea typeface="Cambria" pitchFamily="34" charset="-122"/>
                <a:cs typeface="Cambria" pitchFamily="34" charset="-120"/>
              </a:rPr>
              <a:t>1. YouTube captions</a:t>
            </a:r>
            <a:endParaRPr lang="en-US" sz="1500" dirty="0"/>
          </a:p>
        </p:txBody>
      </p:sp>
      <p:sp>
        <p:nvSpPr>
          <p:cNvPr id="8" name="Text 5"/>
          <p:cNvSpPr/>
          <p:nvPr/>
        </p:nvSpPr>
        <p:spPr>
          <a:xfrm>
            <a:off x="868680" y="3383280"/>
            <a:ext cx="2880360" cy="1737360"/>
          </a:xfrm>
          <a:prstGeom prst="rect">
            <a:avLst/>
          </a:prstGeom>
          <a:noFill/>
          <a:ln/>
        </p:spPr>
        <p:txBody>
          <a:bodyPr wrap="square" lIns="0" tIns="0" rIns="0" bIns="0" rtlCol="0" anchor="t"/>
          <a:lstStyle/>
          <a:p>
            <a:pPr indent="0" marL="0">
              <a:lnSpc>
                <a:spcPct val="115000"/>
              </a:lnSpc>
              <a:buNone/>
            </a:pPr>
            <a:r>
              <a:rPr lang="en-US" sz="1250" dirty="0">
                <a:solidFill>
                  <a:srgbClr val="1A1A1A"/>
                </a:solidFill>
                <a:latin typeface="Calibri" pitchFamily="34" charset="0"/>
                <a:ea typeface="Calibri" pitchFamily="34" charset="-122"/>
                <a:cs typeface="Calibri" pitchFamily="34" charset="-120"/>
              </a:rPr>
              <a:t>Fastest path — reads existing manual or auto-generated captions directly, no download needed</a:t>
            </a:r>
            <a:endParaRPr lang="en-US" sz="1250" dirty="0"/>
          </a:p>
        </p:txBody>
      </p:sp>
      <p:sp>
        <p:nvSpPr>
          <p:cNvPr id="9" name="Shape 6"/>
          <p:cNvSpPr/>
          <p:nvPr/>
        </p:nvSpPr>
        <p:spPr>
          <a:xfrm>
            <a:off x="4389120" y="1737360"/>
            <a:ext cx="3520440" cy="3566160"/>
          </a:xfrm>
          <a:prstGeom prst="roundRect">
            <a:avLst>
              <a:gd name="adj" fmla="val 3117"/>
            </a:avLst>
          </a:prstGeom>
          <a:solidFill>
            <a:srgbClr val="EEEDFE"/>
          </a:solidFill>
          <a:ln/>
        </p:spPr>
      </p:sp>
      <p:sp>
        <p:nvSpPr>
          <p:cNvPr id="10" name="Shape 7"/>
          <p:cNvSpPr/>
          <p:nvPr/>
        </p:nvSpPr>
        <p:spPr>
          <a:xfrm>
            <a:off x="4709160" y="2057400"/>
            <a:ext cx="640080" cy="640080"/>
          </a:xfrm>
          <a:prstGeom prst="ellipse">
            <a:avLst/>
          </a:prstGeom>
          <a:solidFill>
            <a:srgbClr val="534AB7"/>
          </a:solidFill>
          <a:ln/>
        </p:spPr>
      </p:sp>
      <p:pic>
        <p:nvPicPr>
          <p:cNvPr id="11" name="Image 1" descr="/home/claude/chat-with-youtube/presentation/icons_cloud.png">    </p:cNvPr>
          <p:cNvPicPr>
            <a:picLocks noChangeAspect="1"/>
          </p:cNvPicPr>
          <p:nvPr/>
        </p:nvPicPr>
        <p:blipFill>
          <a:blip r:embed="rId2"/>
          <a:stretch>
            <a:fillRect/>
          </a:stretch>
        </p:blipFill>
        <p:spPr>
          <a:xfrm>
            <a:off x="4773168" y="2121408"/>
            <a:ext cx="512064" cy="512064"/>
          </a:xfrm>
          <a:prstGeom prst="rect">
            <a:avLst/>
          </a:prstGeom>
        </p:spPr>
      </p:pic>
      <p:sp>
        <p:nvSpPr>
          <p:cNvPr id="12" name="Text 8"/>
          <p:cNvSpPr/>
          <p:nvPr/>
        </p:nvSpPr>
        <p:spPr>
          <a:xfrm>
            <a:off x="4709160" y="2880360"/>
            <a:ext cx="2880360" cy="457200"/>
          </a:xfrm>
          <a:prstGeom prst="rect">
            <a:avLst/>
          </a:prstGeom>
          <a:noFill/>
          <a:ln/>
        </p:spPr>
        <p:txBody>
          <a:bodyPr wrap="square" lIns="0" tIns="0" rIns="0" bIns="0" rtlCol="0" anchor="ctr"/>
          <a:lstStyle/>
          <a:p>
            <a:pPr indent="0" marL="0">
              <a:buNone/>
            </a:pPr>
            <a:r>
              <a:rPr lang="en-US" sz="1500" b="1" dirty="0">
                <a:solidFill>
                  <a:srgbClr val="3C3489"/>
                </a:solidFill>
                <a:latin typeface="Cambria" pitchFamily="34" charset="0"/>
                <a:ea typeface="Cambria" pitchFamily="34" charset="-122"/>
                <a:cs typeface="Cambria" pitchFamily="34" charset="-120"/>
              </a:rPr>
              <a:t>2. yt-dlp captions</a:t>
            </a:r>
            <a:endParaRPr lang="en-US" sz="1500" dirty="0"/>
          </a:p>
        </p:txBody>
      </p:sp>
      <p:sp>
        <p:nvSpPr>
          <p:cNvPr id="13" name="Text 9"/>
          <p:cNvSpPr/>
          <p:nvPr/>
        </p:nvSpPr>
        <p:spPr>
          <a:xfrm>
            <a:off x="4709160" y="3383280"/>
            <a:ext cx="2880360" cy="1737360"/>
          </a:xfrm>
          <a:prstGeom prst="rect">
            <a:avLst/>
          </a:prstGeom>
          <a:noFill/>
          <a:ln/>
        </p:spPr>
        <p:txBody>
          <a:bodyPr wrap="square" lIns="0" tIns="0" rIns="0" bIns="0" rtlCol="0" anchor="t"/>
          <a:lstStyle/>
          <a:p>
            <a:pPr indent="0" marL="0">
              <a:lnSpc>
                <a:spcPct val="115000"/>
              </a:lnSpc>
              <a:buNone/>
            </a:pPr>
            <a:r>
              <a:rPr lang="en-US" sz="1250" dirty="0">
                <a:solidFill>
                  <a:srgbClr val="1A1A1A"/>
                </a:solidFill>
                <a:latin typeface="Calibri" pitchFamily="34" charset="0"/>
                <a:ea typeface="Calibri" pitchFamily="34" charset="-122"/>
                <a:cs typeface="Calibri" pitchFamily="34" charset="-120"/>
              </a:rPr>
              <a:t>Same caption tracks, different code path — used when the first method is rate-limited or blocked</a:t>
            </a:r>
            <a:endParaRPr lang="en-US" sz="1250" dirty="0"/>
          </a:p>
        </p:txBody>
      </p:sp>
      <p:sp>
        <p:nvSpPr>
          <p:cNvPr id="14" name="Shape 10"/>
          <p:cNvSpPr/>
          <p:nvPr/>
        </p:nvSpPr>
        <p:spPr>
          <a:xfrm>
            <a:off x="8229600" y="1737360"/>
            <a:ext cx="3520440" cy="3566160"/>
          </a:xfrm>
          <a:prstGeom prst="roundRect">
            <a:avLst>
              <a:gd name="adj" fmla="val 3117"/>
            </a:avLst>
          </a:prstGeom>
          <a:solidFill>
            <a:srgbClr val="FDECEA"/>
          </a:solidFill>
          <a:ln/>
        </p:spPr>
      </p:sp>
      <p:sp>
        <p:nvSpPr>
          <p:cNvPr id="15" name="Shape 11"/>
          <p:cNvSpPr/>
          <p:nvPr/>
        </p:nvSpPr>
        <p:spPr>
          <a:xfrm>
            <a:off x="8549640" y="2057400"/>
            <a:ext cx="640080" cy="640080"/>
          </a:xfrm>
          <a:prstGeom prst="ellipse">
            <a:avLst/>
          </a:prstGeom>
          <a:solidFill>
            <a:srgbClr val="C0392B"/>
          </a:solidFill>
          <a:ln/>
        </p:spPr>
      </p:sp>
      <p:pic>
        <p:nvPicPr>
          <p:cNvPr id="16" name="Image 2" descr="/home/claude/chat-with-youtube/presentation/icons_bolt.png">    </p:cNvPr>
          <p:cNvPicPr>
            <a:picLocks noChangeAspect="1"/>
          </p:cNvPicPr>
          <p:nvPr/>
        </p:nvPicPr>
        <p:blipFill>
          <a:blip r:embed="rId3"/>
          <a:stretch>
            <a:fillRect/>
          </a:stretch>
        </p:blipFill>
        <p:spPr>
          <a:xfrm>
            <a:off x="8613648" y="2121408"/>
            <a:ext cx="512064" cy="512064"/>
          </a:xfrm>
          <a:prstGeom prst="rect">
            <a:avLst/>
          </a:prstGeom>
        </p:spPr>
      </p:pic>
      <p:sp>
        <p:nvSpPr>
          <p:cNvPr id="17" name="Text 12"/>
          <p:cNvSpPr/>
          <p:nvPr/>
        </p:nvSpPr>
        <p:spPr>
          <a:xfrm>
            <a:off x="8549640" y="2880360"/>
            <a:ext cx="2880360" cy="457200"/>
          </a:xfrm>
          <a:prstGeom prst="rect">
            <a:avLst/>
          </a:prstGeom>
          <a:noFill/>
          <a:ln/>
        </p:spPr>
        <p:txBody>
          <a:bodyPr wrap="square" lIns="0" tIns="0" rIns="0" bIns="0" rtlCol="0" anchor="ctr"/>
          <a:lstStyle/>
          <a:p>
            <a:pPr indent="0" marL="0">
              <a:buNone/>
            </a:pPr>
            <a:r>
              <a:rPr lang="en-US" sz="1500" b="1" dirty="0">
                <a:solidFill>
                  <a:srgbClr val="922B21"/>
                </a:solidFill>
                <a:latin typeface="Cambria" pitchFamily="34" charset="0"/>
                <a:ea typeface="Cambria" pitchFamily="34" charset="-122"/>
                <a:cs typeface="Cambria" pitchFamily="34" charset="-120"/>
              </a:rPr>
              <a:t>3. Groq Whisper</a:t>
            </a:r>
            <a:endParaRPr lang="en-US" sz="1500" dirty="0"/>
          </a:p>
        </p:txBody>
      </p:sp>
      <p:sp>
        <p:nvSpPr>
          <p:cNvPr id="18" name="Text 13"/>
          <p:cNvSpPr/>
          <p:nvPr/>
        </p:nvSpPr>
        <p:spPr>
          <a:xfrm>
            <a:off x="8549640" y="3383280"/>
            <a:ext cx="2880360" cy="1737360"/>
          </a:xfrm>
          <a:prstGeom prst="rect">
            <a:avLst/>
          </a:prstGeom>
          <a:noFill/>
          <a:ln/>
        </p:spPr>
        <p:txBody>
          <a:bodyPr wrap="square" lIns="0" tIns="0" rIns="0" bIns="0" rtlCol="0" anchor="t"/>
          <a:lstStyle/>
          <a:p>
            <a:pPr indent="0" marL="0">
              <a:lnSpc>
                <a:spcPct val="115000"/>
              </a:lnSpc>
              <a:buNone/>
            </a:pPr>
            <a:r>
              <a:rPr lang="en-US" sz="1250" dirty="0">
                <a:solidFill>
                  <a:srgbClr val="1A1A1A"/>
                </a:solidFill>
                <a:latin typeface="Calibri" pitchFamily="34" charset="0"/>
                <a:ea typeface="Calibri" pitchFamily="34" charset="-122"/>
                <a:cs typeface="Calibri" pitchFamily="34" charset="-120"/>
              </a:rPr>
              <a:t>Last resort: downloads audio and transcribes it, for videos with captions disabled entirely</a:t>
            </a:r>
            <a:endParaRPr lang="en-US" sz="1250" dirty="0"/>
          </a:p>
        </p:txBody>
      </p:sp>
      <p:sp>
        <p:nvSpPr>
          <p:cNvPr id="19" name="Text 14"/>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Why hybrid retrieval</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Example: asking “what happened in 2017” when the transcript also mentions 2016 and 2019</a:t>
            </a:r>
            <a:endParaRPr lang="en-US" sz="1400" dirty="0"/>
          </a:p>
        </p:txBody>
      </p:sp>
      <p:sp>
        <p:nvSpPr>
          <p:cNvPr id="4" name="Shape 2"/>
          <p:cNvSpPr/>
          <p:nvPr/>
        </p:nvSpPr>
        <p:spPr>
          <a:xfrm>
            <a:off x="548640" y="1600200"/>
            <a:ext cx="5303520" cy="4206240"/>
          </a:xfrm>
          <a:prstGeom prst="roundRect">
            <a:avLst>
              <a:gd name="adj" fmla="val 2609"/>
            </a:avLst>
          </a:prstGeom>
          <a:solidFill>
            <a:srgbClr val="FAECE7"/>
          </a:solidFill>
          <a:ln/>
        </p:spPr>
      </p:sp>
      <p:sp>
        <p:nvSpPr>
          <p:cNvPr id="5" name="Text 3"/>
          <p:cNvSpPr/>
          <p:nvPr/>
        </p:nvSpPr>
        <p:spPr>
          <a:xfrm>
            <a:off x="914400" y="1828800"/>
            <a:ext cx="4572000" cy="365760"/>
          </a:xfrm>
          <a:prstGeom prst="rect">
            <a:avLst/>
          </a:prstGeom>
          <a:noFill/>
          <a:ln/>
        </p:spPr>
        <p:txBody>
          <a:bodyPr wrap="square" lIns="0" tIns="0" rIns="0" bIns="0" rtlCol="0" anchor="ctr"/>
          <a:lstStyle/>
          <a:p>
            <a:pPr indent="0" marL="0">
              <a:buNone/>
            </a:pPr>
            <a:r>
              <a:rPr lang="en-US" sz="1600" b="1" dirty="0">
                <a:solidFill>
                  <a:srgbClr val="712B13"/>
                </a:solidFill>
                <a:latin typeface="Cambria" pitchFamily="34" charset="0"/>
                <a:ea typeface="Cambria" pitchFamily="34" charset="-122"/>
                <a:cs typeface="Cambria" pitchFamily="34" charset="-120"/>
              </a:rPr>
              <a:t>Vector search alone</a:t>
            </a:r>
            <a:endParaRPr lang="en-US" sz="1600" dirty="0"/>
          </a:p>
        </p:txBody>
      </p:sp>
      <p:sp>
        <p:nvSpPr>
          <p:cNvPr id="6" name="Text 4"/>
          <p:cNvSpPr/>
          <p:nvPr/>
        </p:nvSpPr>
        <p:spPr>
          <a:xfrm>
            <a:off x="914400" y="2286000"/>
            <a:ext cx="4572000" cy="320040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Embeddings capture meaning, not exact digits or wording</a:t>
            </a:r>
            <a:endParaRPr lang="en-US" sz="1400" dirty="0"/>
          </a:p>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“2016”, “2017”, and “2019” look almost identical to the model</a:t>
            </a:r>
            <a:endParaRPr lang="en-US" sz="1400" dirty="0"/>
          </a:p>
          <a:p>
            <a:pPr marL="342900" indent="-342900">
              <a:lnSpc>
                <a:spcPct val="115000"/>
              </a:lnSpc>
              <a:buSzPct val="100000"/>
              <a:buChar char="•"/>
            </a:pPr>
            <a:r>
              <a:rPr lang="en-US" sz="1400" dirty="0">
                <a:solidFill>
                  <a:srgbClr val="1A1A1A"/>
                </a:solidFill>
                <a:latin typeface="Calibri" pitchFamily="34" charset="0"/>
                <a:ea typeface="Calibri" pitchFamily="34" charset="-122"/>
                <a:cs typeface="Calibri" pitchFamily="34" charset="-120"/>
              </a:rPr>
              <a:t>Result: wrong segment retrieved, or an “I don't have enough information” answer</a:t>
            </a:r>
            <a:endParaRPr lang="en-US" sz="1400" dirty="0"/>
          </a:p>
        </p:txBody>
      </p:sp>
      <p:sp>
        <p:nvSpPr>
          <p:cNvPr id="7" name="Shape 5"/>
          <p:cNvSpPr/>
          <p:nvPr/>
        </p:nvSpPr>
        <p:spPr>
          <a:xfrm>
            <a:off x="6309360" y="1600200"/>
            <a:ext cx="5303520" cy="4206240"/>
          </a:xfrm>
          <a:prstGeom prst="roundRect">
            <a:avLst>
              <a:gd name="adj" fmla="val 2609"/>
            </a:avLst>
          </a:prstGeom>
          <a:solidFill>
            <a:srgbClr val="E1F5EE"/>
          </a:solidFill>
          <a:ln/>
        </p:spPr>
      </p:sp>
      <p:sp>
        <p:nvSpPr>
          <p:cNvPr id="8" name="Text 6"/>
          <p:cNvSpPr/>
          <p:nvPr/>
        </p:nvSpPr>
        <p:spPr>
          <a:xfrm>
            <a:off x="6675120" y="1828800"/>
            <a:ext cx="4572000" cy="365760"/>
          </a:xfrm>
          <a:prstGeom prst="rect">
            <a:avLst/>
          </a:prstGeom>
          <a:noFill/>
          <a:ln/>
        </p:spPr>
        <p:txBody>
          <a:bodyPr wrap="square" lIns="0" tIns="0" rIns="0" bIns="0" rtlCol="0" anchor="ctr"/>
          <a:lstStyle/>
          <a:p>
            <a:pPr indent="0" marL="0">
              <a:buNone/>
            </a:pPr>
            <a:r>
              <a:rPr lang="en-US" sz="1600" b="1" dirty="0">
                <a:solidFill>
                  <a:srgbClr val="085041"/>
                </a:solidFill>
                <a:latin typeface="Cambria" pitchFamily="34" charset="0"/>
                <a:ea typeface="Cambria" pitchFamily="34" charset="-122"/>
                <a:cs typeface="Cambria" pitchFamily="34" charset="-120"/>
              </a:rPr>
              <a:t>Hybrid retrieval</a:t>
            </a:r>
            <a:endParaRPr lang="en-US" sz="1600" dirty="0"/>
          </a:p>
        </p:txBody>
      </p:sp>
      <p:sp>
        <p:nvSpPr>
          <p:cNvPr id="9" name="Text 7"/>
          <p:cNvSpPr/>
          <p:nvPr/>
        </p:nvSpPr>
        <p:spPr>
          <a:xfrm>
            <a:off x="6675120" y="2286000"/>
            <a:ext cx="4572000" cy="320040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Detects years and quoted phrases (e.g. “2017”) in the question</a:t>
            </a:r>
            <a:endParaRPr lang="en-US" sz="1400" dirty="0"/>
          </a:p>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Does a literal, exact-match search for that text first</a:t>
            </a:r>
            <a:endParaRPr lang="en-US" sz="1400" dirty="0"/>
          </a:p>
          <a:p>
            <a:pPr marL="342900" indent="-342900">
              <a:lnSpc>
                <a:spcPct val="115000"/>
              </a:lnSpc>
              <a:buSzPct val="100000"/>
              <a:buChar char="•"/>
            </a:pPr>
            <a:r>
              <a:rPr lang="en-US" sz="1400" dirty="0">
                <a:solidFill>
                  <a:srgbClr val="1A1A1A"/>
                </a:solidFill>
                <a:latin typeface="Calibri" pitchFamily="34" charset="0"/>
                <a:ea typeface="Calibri" pitchFamily="34" charset="-122"/>
                <a:cs typeface="Calibri" pitchFamily="34" charset="-120"/>
              </a:rPr>
              <a:t>Fills remaining context with vector search results</a:t>
            </a:r>
            <a:endParaRPr lang="en-US" sz="1400" dirty="0"/>
          </a:p>
        </p:txBody>
      </p:sp>
      <p:sp>
        <p:nvSpPr>
          <p:cNvPr id="10" name="Text 8"/>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Multi-video support with jumpable citations</a:t>
            </a:r>
            <a:endParaRPr lang="en-US" sz="3000" dirty="0"/>
          </a:p>
        </p:txBody>
      </p:sp>
      <p:sp>
        <p:nvSpPr>
          <p:cNvPr id="3" name="Text 1"/>
          <p:cNvSpPr/>
          <p:nvPr/>
        </p:nvSpPr>
        <p:spPr>
          <a:xfrm>
            <a:off x="548640" y="1645920"/>
            <a:ext cx="5852160" cy="3657600"/>
          </a:xfrm>
          <a:prstGeom prst="rect">
            <a:avLst/>
          </a:prstGeom>
          <a:noFill/>
          <a:ln/>
        </p:spPr>
        <p:txBody>
          <a:bodyPr wrap="square" lIns="0" tIns="0" rIns="0" bIns="0" rtlCol="0" anchor="t"/>
          <a:lstStyle/>
          <a:p>
            <a:pPr marL="342900" indent="-342900">
              <a:lnSpc>
                <a:spcPct val="120000"/>
              </a:lnSpc>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Load and query multiple YouTube videos together</a:t>
            </a:r>
            <a:endParaRPr lang="en-US" sz="1600" dirty="0"/>
          </a:p>
          <a:p>
            <a:pPr marL="342900" indent="-342900">
              <a:lnSpc>
                <a:spcPct val="120000"/>
              </a:lnSpc>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Every chunk is tagged with its source video and a timestamp range</a:t>
            </a:r>
            <a:endParaRPr lang="en-US" sz="1600" dirty="0"/>
          </a:p>
          <a:p>
            <a:pPr marL="342900" indent="-342900">
              <a:lnSpc>
                <a:spcPct val="120000"/>
              </a:lnSpc>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Answers cite exactly which video and moment the information came from</a:t>
            </a:r>
            <a:endParaRPr lang="en-US" sz="1600" dirty="0"/>
          </a:p>
          <a:p>
            <a:pPr marL="342900" indent="-342900">
              <a:lnSpc>
                <a:spcPct val="120000"/>
              </a:lnSpc>
              <a:buSzPct val="100000"/>
              <a:buChar char="•"/>
            </a:pPr>
            <a:r>
              <a:rPr lang="en-US" sz="1600" dirty="0">
                <a:solidFill>
                  <a:srgbClr val="1A1A1A"/>
                </a:solidFill>
                <a:latin typeface="Calibri" pitchFamily="34" charset="0"/>
                <a:ea typeface="Calibri" pitchFamily="34" charset="-122"/>
                <a:cs typeface="Calibri" pitchFamily="34" charset="-120"/>
              </a:rPr>
              <a:t>Clicking a citation seeks the embedded player to that exact second</a:t>
            </a:r>
            <a:endParaRPr lang="en-US" sz="1600" dirty="0"/>
          </a:p>
        </p:txBody>
      </p:sp>
      <p:sp>
        <p:nvSpPr>
          <p:cNvPr id="4" name="Shape 2"/>
          <p:cNvSpPr/>
          <p:nvPr/>
        </p:nvSpPr>
        <p:spPr>
          <a:xfrm>
            <a:off x="6858000" y="1737360"/>
            <a:ext cx="4754880" cy="3566160"/>
          </a:xfrm>
          <a:prstGeom prst="roundRect">
            <a:avLst>
              <a:gd name="adj" fmla="val 3077"/>
            </a:avLst>
          </a:prstGeom>
          <a:solidFill>
            <a:srgbClr val="F5F6F7"/>
          </a:solidFill>
          <a:ln w="12700">
            <a:solidFill>
              <a:srgbClr val="E2E4E8"/>
            </a:solidFill>
            <a:prstDash val="solid"/>
          </a:ln>
        </p:spPr>
      </p:sp>
      <p:sp>
        <p:nvSpPr>
          <p:cNvPr id="5" name="Text 3"/>
          <p:cNvSpPr/>
          <p:nvPr/>
        </p:nvSpPr>
        <p:spPr>
          <a:xfrm>
            <a:off x="7178040" y="2011680"/>
            <a:ext cx="4114800" cy="548640"/>
          </a:xfrm>
          <a:prstGeom prst="rect">
            <a:avLst/>
          </a:prstGeom>
          <a:noFill/>
          <a:ln/>
        </p:spPr>
        <p:txBody>
          <a:bodyPr wrap="square" lIns="0" tIns="0" rIns="0" bIns="0" rtlCol="0" anchor="ctr"/>
          <a:lstStyle/>
          <a:p>
            <a:pPr indent="0" marL="0">
              <a:buNone/>
            </a:pPr>
            <a:r>
              <a:rPr lang="en-US" sz="1300" b="1" dirty="0">
                <a:solidFill>
                  <a:srgbClr val="0B3D62"/>
                </a:solidFill>
                <a:latin typeface="Calibri" pitchFamily="34" charset="0"/>
                <a:ea typeface="Calibri" pitchFamily="34" charset="-122"/>
                <a:cs typeface="Calibri" pitchFamily="34" charset="-120"/>
              </a:rPr>
              <a:t>Q: What did the speaker say about scaling laws?</a:t>
            </a:r>
            <a:endParaRPr lang="en-US" sz="1300" dirty="0"/>
          </a:p>
        </p:txBody>
      </p:sp>
      <p:sp>
        <p:nvSpPr>
          <p:cNvPr id="6" name="Text 4"/>
          <p:cNvSpPr/>
          <p:nvPr/>
        </p:nvSpPr>
        <p:spPr>
          <a:xfrm>
            <a:off x="7178040" y="2651760"/>
            <a:ext cx="4114800" cy="118872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They describe how model performance improves predictably as compute, data, and parameters scale up together.</a:t>
            </a:r>
            <a:endParaRPr lang="en-US" sz="1300" dirty="0"/>
          </a:p>
        </p:txBody>
      </p:sp>
      <p:sp>
        <p:nvSpPr>
          <p:cNvPr id="7" name="Shape 5"/>
          <p:cNvSpPr/>
          <p:nvPr/>
        </p:nvSpPr>
        <p:spPr>
          <a:xfrm>
            <a:off x="7178040" y="3931920"/>
            <a:ext cx="4114800" cy="457200"/>
          </a:xfrm>
          <a:prstGeom prst="roundRect">
            <a:avLst>
              <a:gd name="adj" fmla="val 16000"/>
            </a:avLst>
          </a:prstGeom>
          <a:solidFill>
            <a:srgbClr val="EEEDFE"/>
          </a:solidFill>
          <a:ln/>
        </p:spPr>
      </p:sp>
      <p:sp>
        <p:nvSpPr>
          <p:cNvPr id="8" name="Text 6"/>
          <p:cNvSpPr/>
          <p:nvPr/>
        </p:nvSpPr>
        <p:spPr>
          <a:xfrm>
            <a:off x="7315200" y="3931920"/>
            <a:ext cx="3840480" cy="457200"/>
          </a:xfrm>
          <a:prstGeom prst="rect">
            <a:avLst/>
          </a:prstGeom>
          <a:noFill/>
          <a:ln/>
        </p:spPr>
        <p:txBody>
          <a:bodyPr wrap="square" lIns="0" tIns="0" rIns="0" bIns="0" rtlCol="0" anchor="ctr"/>
          <a:lstStyle/>
          <a:p>
            <a:pPr indent="0" marL="0">
              <a:buNone/>
            </a:pPr>
            <a:r>
              <a:rPr lang="en-US" sz="1100" i="1" dirty="0">
                <a:solidFill>
                  <a:srgbClr val="534AB7"/>
                </a:solidFill>
                <a:latin typeface="Calibri" pitchFamily="34" charset="0"/>
                <a:ea typeface="Calibri" pitchFamily="34" charset="-122"/>
                <a:cs typeface="Calibri" pitchFamily="34" charset="-120"/>
              </a:rPr>
              <a:t>▶ Source: “Scaling Laws Explained”, at 14:22</a:t>
            </a:r>
            <a:endParaRPr lang="en-US" sz="1100" dirty="0"/>
          </a:p>
        </p:txBody>
      </p:sp>
      <p:sp>
        <p:nvSpPr>
          <p:cNvPr id="9" name="Text 7"/>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Testing &amp; results</a:t>
            </a:r>
            <a:endParaRPr lang="en-US" sz="3000" dirty="0"/>
          </a:p>
        </p:txBody>
      </p:sp>
      <p:sp>
        <p:nvSpPr>
          <p:cNvPr id="3" name="Text 1"/>
          <p:cNvSpPr/>
          <p:nvPr/>
        </p:nvSpPr>
        <p:spPr>
          <a:xfrm>
            <a:off x="640080" y="1554480"/>
            <a:ext cx="2377440" cy="1371600"/>
          </a:xfrm>
          <a:prstGeom prst="rect">
            <a:avLst/>
          </a:prstGeom>
          <a:noFill/>
          <a:ln/>
        </p:spPr>
        <p:txBody>
          <a:bodyPr wrap="square" lIns="0" tIns="0" rIns="0" bIns="0" rtlCol="0" anchor="ctr"/>
          <a:lstStyle/>
          <a:p>
            <a:pPr algn="ctr" indent="0" marL="0">
              <a:buNone/>
            </a:pPr>
            <a:r>
              <a:rPr lang="en-US" sz="6200" b="1" dirty="0">
                <a:solidFill>
                  <a:srgbClr val="0F6E56"/>
                </a:solidFill>
                <a:latin typeface="Cambria" pitchFamily="34" charset="0"/>
                <a:ea typeface="Cambria" pitchFamily="34" charset="-122"/>
                <a:cs typeface="Cambria" pitchFamily="34" charset="-120"/>
              </a:rPr>
              <a:t>10</a:t>
            </a:r>
            <a:endParaRPr lang="en-US" sz="6200" dirty="0"/>
          </a:p>
        </p:txBody>
      </p:sp>
      <p:sp>
        <p:nvSpPr>
          <p:cNvPr id="4" name="Text 2"/>
          <p:cNvSpPr/>
          <p:nvPr/>
        </p:nvSpPr>
        <p:spPr>
          <a:xfrm>
            <a:off x="2834640" y="2011680"/>
            <a:ext cx="1097280" cy="822960"/>
          </a:xfrm>
          <a:prstGeom prst="rect">
            <a:avLst/>
          </a:prstGeom>
          <a:noFill/>
          <a:ln/>
        </p:spPr>
        <p:txBody>
          <a:bodyPr wrap="square" lIns="0" tIns="0" rIns="0" bIns="0" rtlCol="0" anchor="ctr"/>
          <a:lstStyle/>
          <a:p>
            <a:pPr indent="0" marL="0">
              <a:buNone/>
            </a:pPr>
            <a:r>
              <a:rPr lang="en-US" sz="2800" b="1" dirty="0">
                <a:solidFill>
                  <a:srgbClr val="5F5E5A"/>
                </a:solidFill>
                <a:latin typeface="Cambria" pitchFamily="34" charset="0"/>
                <a:ea typeface="Cambria" pitchFamily="34" charset="-122"/>
                <a:cs typeface="Cambria" pitchFamily="34" charset="-120"/>
              </a:rPr>
              <a:t>/ 10</a:t>
            </a:r>
            <a:endParaRPr lang="en-US" sz="2800" dirty="0"/>
          </a:p>
        </p:txBody>
      </p:sp>
      <p:sp>
        <p:nvSpPr>
          <p:cNvPr id="5" name="Text 3"/>
          <p:cNvSpPr/>
          <p:nvPr/>
        </p:nvSpPr>
        <p:spPr>
          <a:xfrm>
            <a:off x="640080" y="2880360"/>
            <a:ext cx="2926080" cy="365760"/>
          </a:xfrm>
          <a:prstGeom prst="rect">
            <a:avLst/>
          </a:prstGeom>
          <a:noFill/>
          <a:ln/>
        </p:spPr>
        <p:txBody>
          <a:bodyPr wrap="square" lIns="0" tIns="0" rIns="0" bIns="0" rtlCol="0" anchor="ctr"/>
          <a:lstStyle/>
          <a:p>
            <a:pPr algn="ctr" indent="0" marL="0">
              <a:buNone/>
            </a:pPr>
            <a:r>
              <a:rPr lang="en-US" sz="1300" dirty="0">
                <a:solidFill>
                  <a:srgbClr val="5F5E5A"/>
                </a:solidFill>
                <a:latin typeface="Calibri" pitchFamily="34" charset="0"/>
                <a:ea typeface="Calibri" pitchFamily="34" charset="-122"/>
                <a:cs typeface="Calibri" pitchFamily="34" charset="-120"/>
              </a:rPr>
              <a:t>test cases passed</a:t>
            </a:r>
            <a:endParaRPr lang="en-US" sz="1300" dirty="0"/>
          </a:p>
        </p:txBody>
      </p:sp>
      <p:sp>
        <p:nvSpPr>
          <p:cNvPr id="6" name="Shape 4"/>
          <p:cNvSpPr/>
          <p:nvPr/>
        </p:nvSpPr>
        <p:spPr>
          <a:xfrm>
            <a:off x="4297680" y="1508760"/>
            <a:ext cx="411480" cy="411480"/>
          </a:xfrm>
          <a:prstGeom prst="ellipse">
            <a:avLst/>
          </a:prstGeom>
          <a:solidFill>
            <a:srgbClr val="0F6E56"/>
          </a:solidFill>
          <a:ln/>
        </p:spPr>
      </p:sp>
      <p:pic>
        <p:nvPicPr>
          <p:cNvPr id="7" name="Image 0" descr="/home/claude/chat-with-youtube/presentation/icons_check.png">    </p:cNvPr>
          <p:cNvPicPr>
            <a:picLocks noChangeAspect="1"/>
          </p:cNvPicPr>
          <p:nvPr/>
        </p:nvPicPr>
        <p:blipFill>
          <a:blip r:embed="rId1"/>
          <a:stretch>
            <a:fillRect/>
          </a:stretch>
        </p:blipFill>
        <p:spPr>
          <a:xfrm>
            <a:off x="4338828" y="1549908"/>
            <a:ext cx="329184" cy="329184"/>
          </a:xfrm>
          <a:prstGeom prst="rect">
            <a:avLst/>
          </a:prstGeom>
        </p:spPr>
      </p:pic>
      <p:sp>
        <p:nvSpPr>
          <p:cNvPr id="8" name="Text 5"/>
          <p:cNvSpPr/>
          <p:nvPr/>
        </p:nvSpPr>
        <p:spPr>
          <a:xfrm>
            <a:off x="4892040" y="1463040"/>
            <a:ext cx="6675120" cy="50292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All three transcript fallback layers verified (captions, yt-dlp, Whisper)</a:t>
            </a:r>
            <a:endParaRPr lang="en-US" sz="1350" dirty="0"/>
          </a:p>
        </p:txBody>
      </p:sp>
      <p:sp>
        <p:nvSpPr>
          <p:cNvPr id="9" name="Shape 6"/>
          <p:cNvSpPr/>
          <p:nvPr/>
        </p:nvSpPr>
        <p:spPr>
          <a:xfrm>
            <a:off x="4297680" y="2286000"/>
            <a:ext cx="411480" cy="411480"/>
          </a:xfrm>
          <a:prstGeom prst="ellipse">
            <a:avLst/>
          </a:prstGeom>
          <a:solidFill>
            <a:srgbClr val="0F6E56"/>
          </a:solidFill>
          <a:ln/>
        </p:spPr>
      </p:sp>
      <p:pic>
        <p:nvPicPr>
          <p:cNvPr id="10" name="Image 1" descr="/home/claude/chat-with-youtube/presentation/icons_check.png">    </p:cNvPr>
          <p:cNvPicPr>
            <a:picLocks noChangeAspect="1"/>
          </p:cNvPicPr>
          <p:nvPr/>
        </p:nvPicPr>
        <p:blipFill>
          <a:blip r:embed="rId2"/>
          <a:stretch>
            <a:fillRect/>
          </a:stretch>
        </p:blipFill>
        <p:spPr>
          <a:xfrm>
            <a:off x="4338828" y="2327148"/>
            <a:ext cx="329184" cy="329184"/>
          </a:xfrm>
          <a:prstGeom prst="rect">
            <a:avLst/>
          </a:prstGeom>
        </p:spPr>
      </p:pic>
      <p:sp>
        <p:nvSpPr>
          <p:cNvPr id="11" name="Text 7"/>
          <p:cNvSpPr/>
          <p:nvPr/>
        </p:nvSpPr>
        <p:spPr>
          <a:xfrm>
            <a:off x="4892040" y="2240280"/>
            <a:ext cx="6675120" cy="50292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Specific factual questions answered correctly, cited by timestamp</a:t>
            </a:r>
            <a:endParaRPr lang="en-US" sz="1350" dirty="0"/>
          </a:p>
        </p:txBody>
      </p:sp>
      <p:sp>
        <p:nvSpPr>
          <p:cNvPr id="12" name="Shape 8"/>
          <p:cNvSpPr/>
          <p:nvPr/>
        </p:nvSpPr>
        <p:spPr>
          <a:xfrm>
            <a:off x="4297680" y="3063240"/>
            <a:ext cx="411480" cy="411480"/>
          </a:xfrm>
          <a:prstGeom prst="ellipse">
            <a:avLst/>
          </a:prstGeom>
          <a:solidFill>
            <a:srgbClr val="0F6E56"/>
          </a:solidFill>
          <a:ln/>
        </p:spPr>
      </p:sp>
      <p:pic>
        <p:nvPicPr>
          <p:cNvPr id="13" name="Image 2" descr="/home/claude/chat-with-youtube/presentation/icons_check.png">    </p:cNvPr>
          <p:cNvPicPr>
            <a:picLocks noChangeAspect="1"/>
          </p:cNvPicPr>
          <p:nvPr/>
        </p:nvPicPr>
        <p:blipFill>
          <a:blip r:embed="rId3"/>
          <a:stretch>
            <a:fillRect/>
          </a:stretch>
        </p:blipFill>
        <p:spPr>
          <a:xfrm>
            <a:off x="4338828" y="3104388"/>
            <a:ext cx="329184" cy="329184"/>
          </a:xfrm>
          <a:prstGeom prst="rect">
            <a:avLst/>
          </a:prstGeom>
        </p:spPr>
      </p:pic>
      <p:sp>
        <p:nvSpPr>
          <p:cNvPr id="14" name="Text 9"/>
          <p:cNvSpPr/>
          <p:nvPr/>
        </p:nvSpPr>
        <p:spPr>
          <a:xfrm>
            <a:off x="4892040" y="3017520"/>
            <a:ext cx="6675120" cy="50292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Broad summary questions routed to full-transcript mode</a:t>
            </a:r>
            <a:endParaRPr lang="en-US" sz="1350" dirty="0"/>
          </a:p>
        </p:txBody>
      </p:sp>
      <p:sp>
        <p:nvSpPr>
          <p:cNvPr id="15" name="Shape 10"/>
          <p:cNvSpPr/>
          <p:nvPr/>
        </p:nvSpPr>
        <p:spPr>
          <a:xfrm>
            <a:off x="4297680" y="3840480"/>
            <a:ext cx="411480" cy="411480"/>
          </a:xfrm>
          <a:prstGeom prst="ellipse">
            <a:avLst/>
          </a:prstGeom>
          <a:solidFill>
            <a:srgbClr val="0F6E56"/>
          </a:solidFill>
          <a:ln/>
        </p:spPr>
      </p:sp>
      <p:pic>
        <p:nvPicPr>
          <p:cNvPr id="16" name="Image 3" descr="/home/claude/chat-with-youtube/presentation/icons_check.png">    </p:cNvPr>
          <p:cNvPicPr>
            <a:picLocks noChangeAspect="1"/>
          </p:cNvPicPr>
          <p:nvPr/>
        </p:nvPicPr>
        <p:blipFill>
          <a:blip r:embed="rId4"/>
          <a:stretch>
            <a:fillRect/>
          </a:stretch>
        </p:blipFill>
        <p:spPr>
          <a:xfrm>
            <a:off x="4338828" y="3881628"/>
            <a:ext cx="329184" cy="329184"/>
          </a:xfrm>
          <a:prstGeom prst="rect">
            <a:avLst/>
          </a:prstGeom>
        </p:spPr>
      </p:pic>
      <p:sp>
        <p:nvSpPr>
          <p:cNvPr id="17" name="Text 11"/>
          <p:cNvSpPr/>
          <p:nvPr/>
        </p:nvSpPr>
        <p:spPr>
          <a:xfrm>
            <a:off x="4892040" y="3794760"/>
            <a:ext cx="6675120" cy="50292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Multi-video queries cite the correct source video</a:t>
            </a:r>
            <a:endParaRPr lang="en-US" sz="1350" dirty="0"/>
          </a:p>
        </p:txBody>
      </p:sp>
      <p:sp>
        <p:nvSpPr>
          <p:cNvPr id="18" name="Shape 12"/>
          <p:cNvSpPr/>
          <p:nvPr/>
        </p:nvSpPr>
        <p:spPr>
          <a:xfrm>
            <a:off x="4297680" y="4617720"/>
            <a:ext cx="411480" cy="411480"/>
          </a:xfrm>
          <a:prstGeom prst="ellipse">
            <a:avLst/>
          </a:prstGeom>
          <a:solidFill>
            <a:srgbClr val="0F6E56"/>
          </a:solidFill>
          <a:ln/>
        </p:spPr>
      </p:sp>
      <p:pic>
        <p:nvPicPr>
          <p:cNvPr id="19" name="Image 4" descr="/home/claude/chat-with-youtube/presentation/icons_check.png">    </p:cNvPr>
          <p:cNvPicPr>
            <a:picLocks noChangeAspect="1"/>
          </p:cNvPicPr>
          <p:nvPr/>
        </p:nvPicPr>
        <p:blipFill>
          <a:blip r:embed="rId5"/>
          <a:stretch>
            <a:fillRect/>
          </a:stretch>
        </p:blipFill>
        <p:spPr>
          <a:xfrm>
            <a:off x="4338828" y="4658868"/>
            <a:ext cx="329184" cy="329184"/>
          </a:xfrm>
          <a:prstGeom prst="rect">
            <a:avLst/>
          </a:prstGeom>
        </p:spPr>
      </p:pic>
      <p:sp>
        <p:nvSpPr>
          <p:cNvPr id="20" name="Text 13"/>
          <p:cNvSpPr/>
          <p:nvPr/>
        </p:nvSpPr>
        <p:spPr>
          <a:xfrm>
            <a:off x="4892040" y="4572000"/>
            <a:ext cx="6675120" cy="50292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Timestamp citations correctly seek the embedded player</a:t>
            </a:r>
            <a:endParaRPr lang="en-US" sz="1350" dirty="0"/>
          </a:p>
        </p:txBody>
      </p:sp>
      <p:sp>
        <p:nvSpPr>
          <p:cNvPr id="21" name="Text 14"/>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Demo</a:t>
            </a:r>
            <a:endParaRPr lang="en-US" sz="3000" dirty="0"/>
          </a:p>
        </p:txBody>
      </p:sp>
      <p:sp>
        <p:nvSpPr>
          <p:cNvPr id="3" name="Shape 1"/>
          <p:cNvSpPr/>
          <p:nvPr/>
        </p:nvSpPr>
        <p:spPr>
          <a:xfrm>
            <a:off x="548640" y="1737360"/>
            <a:ext cx="3520440" cy="3566160"/>
          </a:xfrm>
          <a:prstGeom prst="roundRect">
            <a:avLst>
              <a:gd name="adj" fmla="val 2597"/>
            </a:avLst>
          </a:prstGeom>
          <a:solidFill>
            <a:srgbClr val="F5F6F7"/>
          </a:solidFill>
          <a:ln w="12700">
            <a:solidFill>
              <a:srgbClr val="E2E4E8"/>
            </a:solidFill>
            <a:prstDash val="dash"/>
          </a:ln>
        </p:spPr>
      </p:sp>
      <p:sp>
        <p:nvSpPr>
          <p:cNvPr id="4" name="Text 2"/>
          <p:cNvSpPr/>
          <p:nvPr/>
        </p:nvSpPr>
        <p:spPr>
          <a:xfrm>
            <a:off x="548640" y="3063240"/>
            <a:ext cx="3520440" cy="365760"/>
          </a:xfrm>
          <a:prstGeom prst="rect">
            <a:avLst/>
          </a:prstGeom>
          <a:noFill/>
          <a:ln/>
        </p:spPr>
        <p:txBody>
          <a:bodyPr wrap="square" lIns="0" tIns="0" rIns="0" bIns="0" rtlCol="0" anchor="ctr"/>
          <a:lstStyle/>
          <a:p>
            <a:pPr algn="ctr" indent="0" marL="0">
              <a:buNone/>
            </a:pPr>
            <a:r>
              <a:rPr lang="en-US" sz="1200" i="1" dirty="0">
                <a:solidFill>
                  <a:srgbClr val="5F5E5A"/>
                </a:solidFill>
                <a:latin typeface="Calibri" pitchFamily="34" charset="0"/>
                <a:ea typeface="Calibri" pitchFamily="34" charset="-122"/>
                <a:cs typeface="Calibri" pitchFamily="34" charset="-120"/>
              </a:rPr>
              <a:t>[ insert screenshot ]</a:t>
            </a:r>
            <a:endParaRPr lang="en-US" sz="1200" dirty="0"/>
          </a:p>
        </p:txBody>
      </p:sp>
      <p:sp>
        <p:nvSpPr>
          <p:cNvPr id="5" name="Text 3"/>
          <p:cNvSpPr/>
          <p:nvPr/>
        </p:nvSpPr>
        <p:spPr>
          <a:xfrm>
            <a:off x="731520" y="4754880"/>
            <a:ext cx="3154680" cy="457200"/>
          </a:xfrm>
          <a:prstGeom prst="rect">
            <a:avLst/>
          </a:prstGeom>
          <a:noFill/>
          <a:ln/>
        </p:spPr>
        <p:txBody>
          <a:bodyPr wrap="square" lIns="0" tIns="0" rIns="0" bIns="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Screenshot: paste-a-URL and indexing screen</a:t>
            </a:r>
            <a:endParaRPr lang="en-US" sz="1200" dirty="0"/>
          </a:p>
        </p:txBody>
      </p:sp>
      <p:sp>
        <p:nvSpPr>
          <p:cNvPr id="6" name="Shape 4"/>
          <p:cNvSpPr/>
          <p:nvPr/>
        </p:nvSpPr>
        <p:spPr>
          <a:xfrm>
            <a:off x="4389120" y="1737360"/>
            <a:ext cx="3520440" cy="3566160"/>
          </a:xfrm>
          <a:prstGeom prst="roundRect">
            <a:avLst>
              <a:gd name="adj" fmla="val 2597"/>
            </a:avLst>
          </a:prstGeom>
          <a:solidFill>
            <a:srgbClr val="F5F6F7"/>
          </a:solidFill>
          <a:ln w="12700">
            <a:solidFill>
              <a:srgbClr val="E2E4E8"/>
            </a:solidFill>
            <a:prstDash val="dash"/>
          </a:ln>
        </p:spPr>
      </p:sp>
      <p:sp>
        <p:nvSpPr>
          <p:cNvPr id="7" name="Text 5"/>
          <p:cNvSpPr/>
          <p:nvPr/>
        </p:nvSpPr>
        <p:spPr>
          <a:xfrm>
            <a:off x="4389120" y="3063240"/>
            <a:ext cx="3520440" cy="365760"/>
          </a:xfrm>
          <a:prstGeom prst="rect">
            <a:avLst/>
          </a:prstGeom>
          <a:noFill/>
          <a:ln/>
        </p:spPr>
        <p:txBody>
          <a:bodyPr wrap="square" lIns="0" tIns="0" rIns="0" bIns="0" rtlCol="0" anchor="ctr"/>
          <a:lstStyle/>
          <a:p>
            <a:pPr algn="ctr" indent="0" marL="0">
              <a:buNone/>
            </a:pPr>
            <a:r>
              <a:rPr lang="en-US" sz="1200" i="1" dirty="0">
                <a:solidFill>
                  <a:srgbClr val="5F5E5A"/>
                </a:solidFill>
                <a:latin typeface="Calibri" pitchFamily="34" charset="0"/>
                <a:ea typeface="Calibri" pitchFamily="34" charset="-122"/>
                <a:cs typeface="Calibri" pitchFamily="34" charset="-120"/>
              </a:rPr>
              <a:t>[ insert screenshot ]</a:t>
            </a:r>
            <a:endParaRPr lang="en-US" sz="1200" dirty="0"/>
          </a:p>
        </p:txBody>
      </p:sp>
      <p:sp>
        <p:nvSpPr>
          <p:cNvPr id="8" name="Text 6"/>
          <p:cNvSpPr/>
          <p:nvPr/>
        </p:nvSpPr>
        <p:spPr>
          <a:xfrm>
            <a:off x="4572000" y="4754880"/>
            <a:ext cx="3154680" cy="457200"/>
          </a:xfrm>
          <a:prstGeom prst="rect">
            <a:avLst/>
          </a:prstGeom>
          <a:noFill/>
          <a:ln/>
        </p:spPr>
        <p:txBody>
          <a:bodyPr wrap="square" lIns="0" tIns="0" rIns="0" bIns="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Screenshot: chat with a timestamp citation</a:t>
            </a:r>
            <a:endParaRPr lang="en-US" sz="1200" dirty="0"/>
          </a:p>
        </p:txBody>
      </p:sp>
      <p:sp>
        <p:nvSpPr>
          <p:cNvPr id="9" name="Shape 7"/>
          <p:cNvSpPr/>
          <p:nvPr/>
        </p:nvSpPr>
        <p:spPr>
          <a:xfrm>
            <a:off x="8229600" y="1737360"/>
            <a:ext cx="3520440" cy="3566160"/>
          </a:xfrm>
          <a:prstGeom prst="roundRect">
            <a:avLst>
              <a:gd name="adj" fmla="val 2597"/>
            </a:avLst>
          </a:prstGeom>
          <a:solidFill>
            <a:srgbClr val="F5F6F7"/>
          </a:solidFill>
          <a:ln w="12700">
            <a:solidFill>
              <a:srgbClr val="E2E4E8"/>
            </a:solidFill>
            <a:prstDash val="dash"/>
          </a:ln>
        </p:spPr>
      </p:sp>
      <p:sp>
        <p:nvSpPr>
          <p:cNvPr id="10" name="Text 8"/>
          <p:cNvSpPr/>
          <p:nvPr/>
        </p:nvSpPr>
        <p:spPr>
          <a:xfrm>
            <a:off x="8229600" y="3063240"/>
            <a:ext cx="3520440" cy="365760"/>
          </a:xfrm>
          <a:prstGeom prst="rect">
            <a:avLst/>
          </a:prstGeom>
          <a:noFill/>
          <a:ln/>
        </p:spPr>
        <p:txBody>
          <a:bodyPr wrap="square" lIns="0" tIns="0" rIns="0" bIns="0" rtlCol="0" anchor="ctr"/>
          <a:lstStyle/>
          <a:p>
            <a:pPr algn="ctr" indent="0" marL="0">
              <a:buNone/>
            </a:pPr>
            <a:r>
              <a:rPr lang="en-US" sz="1200" i="1" dirty="0">
                <a:solidFill>
                  <a:srgbClr val="5F5E5A"/>
                </a:solidFill>
                <a:latin typeface="Calibri" pitchFamily="34" charset="0"/>
                <a:ea typeface="Calibri" pitchFamily="34" charset="-122"/>
                <a:cs typeface="Calibri" pitchFamily="34" charset="-120"/>
              </a:rPr>
              <a:t>[ insert screenshot ]</a:t>
            </a:r>
            <a:endParaRPr lang="en-US" sz="1200" dirty="0"/>
          </a:p>
        </p:txBody>
      </p:sp>
      <p:sp>
        <p:nvSpPr>
          <p:cNvPr id="11" name="Text 9"/>
          <p:cNvSpPr/>
          <p:nvPr/>
        </p:nvSpPr>
        <p:spPr>
          <a:xfrm>
            <a:off x="8412480" y="4754880"/>
            <a:ext cx="3154680" cy="457200"/>
          </a:xfrm>
          <a:prstGeom prst="rect">
            <a:avLst/>
          </a:prstGeom>
          <a:noFill/>
          <a:ln/>
        </p:spPr>
        <p:txBody>
          <a:bodyPr wrap="square" lIns="0" tIns="0" rIns="0" bIns="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Screenshot: player after clicking a citation</a:t>
            </a:r>
            <a:endParaRPr lang="en-US" sz="1200" dirty="0"/>
          </a:p>
        </p:txBody>
      </p:sp>
      <p:sp>
        <p:nvSpPr>
          <p:cNvPr id="12" name="Text 10"/>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Challenges faced</a:t>
            </a:r>
            <a:endParaRPr lang="en-US" sz="3000" dirty="0"/>
          </a:p>
        </p:txBody>
      </p:sp>
      <p:sp>
        <p:nvSpPr>
          <p:cNvPr id="3" name="Shape 1"/>
          <p:cNvSpPr/>
          <p:nvPr/>
        </p:nvSpPr>
        <p:spPr>
          <a:xfrm>
            <a:off x="548640" y="1554480"/>
            <a:ext cx="594360" cy="594360"/>
          </a:xfrm>
          <a:prstGeom prst="ellipse">
            <a:avLst/>
          </a:prstGeom>
          <a:solidFill>
            <a:srgbClr val="534AB7"/>
          </a:solidFill>
          <a:ln/>
        </p:spPr>
      </p:sp>
      <p:pic>
        <p:nvPicPr>
          <p:cNvPr id="4" name="Image 0" descr="/home/claude/chat-with-youtube/presentation/icons_warning.png">    </p:cNvPr>
          <p:cNvPicPr>
            <a:picLocks noChangeAspect="1"/>
          </p:cNvPicPr>
          <p:nvPr/>
        </p:nvPicPr>
        <p:blipFill>
          <a:blip r:embed="rId1"/>
          <a:stretch>
            <a:fillRect/>
          </a:stretch>
        </p:blipFill>
        <p:spPr>
          <a:xfrm>
            <a:off x="608076" y="1613916"/>
            <a:ext cx="475488" cy="475488"/>
          </a:xfrm>
          <a:prstGeom prst="rect">
            <a:avLst/>
          </a:prstGeom>
        </p:spPr>
      </p:pic>
      <p:sp>
        <p:nvSpPr>
          <p:cNvPr id="5" name="Text 2"/>
          <p:cNvSpPr/>
          <p:nvPr/>
        </p:nvSpPr>
        <p:spPr>
          <a:xfrm>
            <a:off x="1325880" y="15087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Not every video has captions</a:t>
            </a:r>
            <a:endParaRPr lang="en-US" sz="1500" dirty="0"/>
          </a:p>
        </p:txBody>
      </p:sp>
      <p:sp>
        <p:nvSpPr>
          <p:cNvPr id="6" name="Text 3"/>
          <p:cNvSpPr/>
          <p:nvPr/>
        </p:nvSpPr>
        <p:spPr>
          <a:xfrm>
            <a:off x="1325880" y="18928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Some videos have captions disabled entirely — solved with the yt-dlp and Whisper fallback layers</a:t>
            </a:r>
            <a:endParaRPr lang="en-US" sz="1250" dirty="0"/>
          </a:p>
        </p:txBody>
      </p:sp>
      <p:sp>
        <p:nvSpPr>
          <p:cNvPr id="7" name="Shape 4"/>
          <p:cNvSpPr/>
          <p:nvPr/>
        </p:nvSpPr>
        <p:spPr>
          <a:xfrm>
            <a:off x="6400800" y="1554480"/>
            <a:ext cx="594360" cy="594360"/>
          </a:xfrm>
          <a:prstGeom prst="ellipse">
            <a:avLst/>
          </a:prstGeom>
          <a:solidFill>
            <a:srgbClr val="534AB7"/>
          </a:solidFill>
          <a:ln/>
        </p:spPr>
      </p:sp>
      <p:pic>
        <p:nvPicPr>
          <p:cNvPr id="8" name="Image 1" descr="/home/claude/chat-with-youtube/presentation/icons_search.png">    </p:cNvPr>
          <p:cNvPicPr>
            <a:picLocks noChangeAspect="1"/>
          </p:cNvPicPr>
          <p:nvPr/>
        </p:nvPicPr>
        <p:blipFill>
          <a:blip r:embed="rId2"/>
          <a:stretch>
            <a:fillRect/>
          </a:stretch>
        </p:blipFill>
        <p:spPr>
          <a:xfrm>
            <a:off x="6460236" y="1613916"/>
            <a:ext cx="475488" cy="475488"/>
          </a:xfrm>
          <a:prstGeom prst="rect">
            <a:avLst/>
          </a:prstGeom>
        </p:spPr>
      </p:pic>
      <p:sp>
        <p:nvSpPr>
          <p:cNvPr id="9" name="Text 5"/>
          <p:cNvSpPr/>
          <p:nvPr/>
        </p:nvSpPr>
        <p:spPr>
          <a:xfrm>
            <a:off x="7178040" y="15087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Years and phrases confuse embeddings</a:t>
            </a:r>
            <a:endParaRPr lang="en-US" sz="1500" dirty="0"/>
          </a:p>
        </p:txBody>
      </p:sp>
      <p:sp>
        <p:nvSpPr>
          <p:cNvPr id="10" name="Text 6"/>
          <p:cNvSpPr/>
          <p:nvPr/>
        </p:nvSpPr>
        <p:spPr>
          <a:xfrm>
            <a:off x="7178040" y="18928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Vector search alone couldn't reliably distinguish similar years — solved with hybrid retrieval</a:t>
            </a:r>
            <a:endParaRPr lang="en-US" sz="1250" dirty="0"/>
          </a:p>
        </p:txBody>
      </p:sp>
      <p:sp>
        <p:nvSpPr>
          <p:cNvPr id="11" name="Shape 7"/>
          <p:cNvSpPr/>
          <p:nvPr/>
        </p:nvSpPr>
        <p:spPr>
          <a:xfrm>
            <a:off x="548640" y="3611880"/>
            <a:ext cx="594360" cy="594360"/>
          </a:xfrm>
          <a:prstGeom prst="ellipse">
            <a:avLst/>
          </a:prstGeom>
          <a:solidFill>
            <a:srgbClr val="534AB7"/>
          </a:solidFill>
          <a:ln/>
        </p:spPr>
      </p:sp>
      <p:pic>
        <p:nvPicPr>
          <p:cNvPr id="12" name="Image 2" descr="/home/claude/chat-with-youtube/presentation/icons_chunk.png">    </p:cNvPr>
          <p:cNvPicPr>
            <a:picLocks noChangeAspect="1"/>
          </p:cNvPicPr>
          <p:nvPr/>
        </p:nvPicPr>
        <p:blipFill>
          <a:blip r:embed="rId3"/>
          <a:stretch>
            <a:fillRect/>
          </a:stretch>
        </p:blipFill>
        <p:spPr>
          <a:xfrm>
            <a:off x="608076" y="3671316"/>
            <a:ext cx="475488" cy="475488"/>
          </a:xfrm>
          <a:prstGeom prst="rect">
            <a:avLst/>
          </a:prstGeom>
        </p:spPr>
      </p:pic>
      <p:sp>
        <p:nvSpPr>
          <p:cNvPr id="13" name="Text 8"/>
          <p:cNvSpPr/>
          <p:nvPr/>
        </p:nvSpPr>
        <p:spPr>
          <a:xfrm>
            <a:off x="1325880" y="35661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Keeping citations jump-worthy</a:t>
            </a:r>
            <a:endParaRPr lang="en-US" sz="1500" dirty="0"/>
          </a:p>
        </p:txBody>
      </p:sp>
      <p:sp>
        <p:nvSpPr>
          <p:cNvPr id="14" name="Text 9"/>
          <p:cNvSpPr/>
          <p:nvPr/>
        </p:nvSpPr>
        <p:spPr>
          <a:xfrm>
            <a:off x="1325880" y="39502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Chunks needed to stay short in time-span, not just word count, so a citation jumps to a useful moment</a:t>
            </a:r>
            <a:endParaRPr lang="en-US" sz="1250" dirty="0"/>
          </a:p>
        </p:txBody>
      </p:sp>
      <p:sp>
        <p:nvSpPr>
          <p:cNvPr id="15" name="Shape 10"/>
          <p:cNvSpPr/>
          <p:nvPr/>
        </p:nvSpPr>
        <p:spPr>
          <a:xfrm>
            <a:off x="6400800" y="3611880"/>
            <a:ext cx="594360" cy="594360"/>
          </a:xfrm>
          <a:prstGeom prst="ellipse">
            <a:avLst/>
          </a:prstGeom>
          <a:solidFill>
            <a:srgbClr val="534AB7"/>
          </a:solidFill>
          <a:ln/>
        </p:spPr>
      </p:sp>
      <p:pic>
        <p:nvPicPr>
          <p:cNvPr id="16" name="Image 3" descr="/home/claude/chat-with-youtube/presentation/icons_target.png">    </p:cNvPr>
          <p:cNvPicPr>
            <a:picLocks noChangeAspect="1"/>
          </p:cNvPicPr>
          <p:nvPr/>
        </p:nvPicPr>
        <p:blipFill>
          <a:blip r:embed="rId4"/>
          <a:stretch>
            <a:fillRect/>
          </a:stretch>
        </p:blipFill>
        <p:spPr>
          <a:xfrm>
            <a:off x="6460236" y="3671316"/>
            <a:ext cx="475488" cy="475488"/>
          </a:xfrm>
          <a:prstGeom prst="rect">
            <a:avLst/>
          </a:prstGeom>
        </p:spPr>
      </p:pic>
      <p:sp>
        <p:nvSpPr>
          <p:cNvPr id="17" name="Text 11"/>
          <p:cNvSpPr/>
          <p:nvPr/>
        </p:nvSpPr>
        <p:spPr>
          <a:xfrm>
            <a:off x="7178040" y="35661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Broad vs. specific questions</a:t>
            </a:r>
            <a:endParaRPr lang="en-US" sz="1500" dirty="0"/>
          </a:p>
        </p:txBody>
      </p:sp>
      <p:sp>
        <p:nvSpPr>
          <p:cNvPr id="18" name="Text 12"/>
          <p:cNvSpPr/>
          <p:nvPr/>
        </p:nvSpPr>
        <p:spPr>
          <a:xfrm>
            <a:off x="7178040" y="39502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A single retrieval strategy didn't work for both summaries and fact lookups — needed explicit routing</a:t>
            </a:r>
            <a:endParaRPr lang="en-US" sz="1250" dirty="0"/>
          </a:p>
        </p:txBody>
      </p:sp>
      <p:sp>
        <p:nvSpPr>
          <p:cNvPr id="19" name="Text 13"/>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Future scope</a:t>
            </a:r>
            <a:endParaRPr lang="en-US" sz="3000" dirty="0"/>
          </a:p>
        </p:txBody>
      </p:sp>
      <p:sp>
        <p:nvSpPr>
          <p:cNvPr id="3" name="Shape 1"/>
          <p:cNvSpPr/>
          <p:nvPr/>
        </p:nvSpPr>
        <p:spPr>
          <a:xfrm>
            <a:off x="640080" y="1691640"/>
            <a:ext cx="548640" cy="548640"/>
          </a:xfrm>
          <a:prstGeom prst="ellipse">
            <a:avLst/>
          </a:prstGeom>
          <a:solidFill>
            <a:srgbClr val="0F6E56"/>
          </a:solidFill>
          <a:ln/>
        </p:spPr>
      </p:sp>
      <p:pic>
        <p:nvPicPr>
          <p:cNvPr id="4" name="Image 0" descr="/home/claude/chat-with-youtube/presentation/icons_future.png">    </p:cNvPr>
          <p:cNvPicPr>
            <a:picLocks noChangeAspect="1"/>
          </p:cNvPicPr>
          <p:nvPr/>
        </p:nvPicPr>
        <p:blipFill>
          <a:blip r:embed="rId1"/>
          <a:stretch>
            <a:fillRect/>
          </a:stretch>
        </p:blipFill>
        <p:spPr>
          <a:xfrm>
            <a:off x="694944" y="1746504"/>
            <a:ext cx="438912" cy="438912"/>
          </a:xfrm>
          <a:prstGeom prst="rect">
            <a:avLst/>
          </a:prstGeom>
        </p:spPr>
      </p:pic>
      <p:sp>
        <p:nvSpPr>
          <p:cNvPr id="5" name="Text 2"/>
          <p:cNvSpPr/>
          <p:nvPr/>
        </p:nvSpPr>
        <p:spPr>
          <a:xfrm>
            <a:off x="1371600" y="169164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Support additional video platforms, and locally stored video files</a:t>
            </a:r>
            <a:endParaRPr lang="en-US" sz="1600" dirty="0"/>
          </a:p>
        </p:txBody>
      </p:sp>
      <p:sp>
        <p:nvSpPr>
          <p:cNvPr id="6" name="Shape 3"/>
          <p:cNvSpPr/>
          <p:nvPr/>
        </p:nvSpPr>
        <p:spPr>
          <a:xfrm>
            <a:off x="640080" y="2651760"/>
            <a:ext cx="548640" cy="548640"/>
          </a:xfrm>
          <a:prstGeom prst="ellipse">
            <a:avLst/>
          </a:prstGeom>
          <a:solidFill>
            <a:srgbClr val="0F6E56"/>
          </a:solidFill>
          <a:ln/>
        </p:spPr>
      </p:sp>
      <p:pic>
        <p:nvPicPr>
          <p:cNvPr id="7" name="Image 1" descr="/home/claude/chat-with-youtube/presentation/icons_database.png">    </p:cNvPr>
          <p:cNvPicPr>
            <a:picLocks noChangeAspect="1"/>
          </p:cNvPicPr>
          <p:nvPr/>
        </p:nvPicPr>
        <p:blipFill>
          <a:blip r:embed="rId2"/>
          <a:stretch>
            <a:fillRect/>
          </a:stretch>
        </p:blipFill>
        <p:spPr>
          <a:xfrm>
            <a:off x="694944" y="2706624"/>
            <a:ext cx="438912" cy="438912"/>
          </a:xfrm>
          <a:prstGeom prst="rect">
            <a:avLst/>
          </a:prstGeom>
        </p:spPr>
      </p:pic>
      <p:sp>
        <p:nvSpPr>
          <p:cNvPr id="8" name="Text 4"/>
          <p:cNvSpPr/>
          <p:nvPr/>
        </p:nvSpPr>
        <p:spPr>
          <a:xfrm>
            <a:off x="1371600" y="265176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Persistent index storage, so videos don't need re-fetching each session</a:t>
            </a:r>
            <a:endParaRPr lang="en-US" sz="1600" dirty="0"/>
          </a:p>
        </p:txBody>
      </p:sp>
      <p:sp>
        <p:nvSpPr>
          <p:cNvPr id="9" name="Shape 5"/>
          <p:cNvSpPr/>
          <p:nvPr/>
        </p:nvSpPr>
        <p:spPr>
          <a:xfrm>
            <a:off x="640080" y="3611880"/>
            <a:ext cx="548640" cy="548640"/>
          </a:xfrm>
          <a:prstGeom prst="ellipse">
            <a:avLst/>
          </a:prstGeom>
          <a:solidFill>
            <a:srgbClr val="0F6E56"/>
          </a:solidFill>
          <a:ln/>
        </p:spPr>
      </p:sp>
      <p:pic>
        <p:nvPicPr>
          <p:cNvPr id="10" name="Image 2" descr="/home/claude/chat-with-youtube/presentation/icons_target.png">    </p:cNvPr>
          <p:cNvPicPr>
            <a:picLocks noChangeAspect="1"/>
          </p:cNvPicPr>
          <p:nvPr/>
        </p:nvPicPr>
        <p:blipFill>
          <a:blip r:embed="rId3"/>
          <a:stretch>
            <a:fillRect/>
          </a:stretch>
        </p:blipFill>
        <p:spPr>
          <a:xfrm>
            <a:off x="694944" y="3666744"/>
            <a:ext cx="438912" cy="438912"/>
          </a:xfrm>
          <a:prstGeom prst="rect">
            <a:avLst/>
          </a:prstGeom>
        </p:spPr>
      </p:pic>
      <p:sp>
        <p:nvSpPr>
          <p:cNvPr id="11" name="Text 6"/>
          <p:cNvSpPr/>
          <p:nvPr/>
        </p:nvSpPr>
        <p:spPr>
          <a:xfrm>
            <a:off x="1371600" y="361188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Cross-encoder re-ranking for higher retrieval precision</a:t>
            </a:r>
            <a:endParaRPr lang="en-US" sz="1600" dirty="0"/>
          </a:p>
        </p:txBody>
      </p:sp>
      <p:sp>
        <p:nvSpPr>
          <p:cNvPr id="12" name="Shape 7"/>
          <p:cNvSpPr/>
          <p:nvPr/>
        </p:nvSpPr>
        <p:spPr>
          <a:xfrm>
            <a:off x="640080" y="4572000"/>
            <a:ext cx="548640" cy="548640"/>
          </a:xfrm>
          <a:prstGeom prst="ellipse">
            <a:avLst/>
          </a:prstGeom>
          <a:solidFill>
            <a:srgbClr val="0F6E56"/>
          </a:solidFill>
          <a:ln/>
        </p:spPr>
      </p:sp>
      <p:pic>
        <p:nvPicPr>
          <p:cNvPr id="13" name="Image 3" descr="/home/claude/chat-with-youtube/presentation/icons_chat.png">    </p:cNvPr>
          <p:cNvPicPr>
            <a:picLocks noChangeAspect="1"/>
          </p:cNvPicPr>
          <p:nvPr/>
        </p:nvPicPr>
        <p:blipFill>
          <a:blip r:embed="rId4"/>
          <a:stretch>
            <a:fillRect/>
          </a:stretch>
        </p:blipFill>
        <p:spPr>
          <a:xfrm>
            <a:off x="694944" y="4626864"/>
            <a:ext cx="438912" cy="438912"/>
          </a:xfrm>
          <a:prstGeom prst="rect">
            <a:avLst/>
          </a:prstGeom>
        </p:spPr>
      </p:pic>
      <p:sp>
        <p:nvSpPr>
          <p:cNvPr id="14" name="Text 8"/>
          <p:cNvSpPr/>
          <p:nvPr/>
        </p:nvSpPr>
        <p:spPr>
          <a:xfrm>
            <a:off x="1371600" y="457200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Speaker diarization, so answers can cite who said what in multi-speaker videos</a:t>
            </a:r>
            <a:endParaRPr lang="en-US" sz="1600" dirty="0"/>
          </a:p>
        </p:txBody>
      </p:sp>
      <p:sp>
        <p:nvSpPr>
          <p:cNvPr id="15" name="Text 9"/>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3D62"/>
          </a:solidFill>
          <a:ln/>
        </p:spPr>
      </p:sp>
      <p:sp>
        <p:nvSpPr>
          <p:cNvPr id="3" name="Text 1"/>
          <p:cNvSpPr/>
          <p:nvPr/>
        </p:nvSpPr>
        <p:spPr>
          <a:xfrm>
            <a:off x="822960" y="2651760"/>
            <a:ext cx="10543032"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4" name="Text 2"/>
          <p:cNvSpPr/>
          <p:nvPr/>
        </p:nvSpPr>
        <p:spPr>
          <a:xfrm>
            <a:off x="822960" y="3566160"/>
            <a:ext cx="10543032"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2026-07-22T07:16:57Z</dcterms:created>
  <dcterms:modified xsi:type="dcterms:W3CDTF">2026-07-22T07:16:57Z</dcterms:modified>
</cp:coreProperties>
</file>